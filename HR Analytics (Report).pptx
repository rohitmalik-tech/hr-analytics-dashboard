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6" r:id="rId2"/>
    <p:sldId id="256" r:id="rId3"/>
    <p:sldId id="258" r:id="rId4"/>
    <p:sldId id="268" r:id="rId5"/>
    <p:sldId id="257" r:id="rId6"/>
    <p:sldId id="269" r:id="rId7"/>
    <p:sldId id="260" r:id="rId8"/>
    <p:sldId id="270" r:id="rId9"/>
    <p:sldId id="262" r:id="rId10"/>
    <p:sldId id="271" r:id="rId11"/>
    <p:sldId id="273" r:id="rId12"/>
    <p:sldId id="264" r:id="rId13"/>
    <p:sldId id="265" r:id="rId14"/>
    <p:sldId id="272" r:id="rId15"/>
  </p:sldIdLst>
  <p:sldSz cx="18288000" cy="10287000"/>
  <p:notesSz cx="6858000" cy="9144000"/>
  <p:embeddedFontLst>
    <p:embeddedFont>
      <p:font typeface="Canva San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 Malik" userId="79b6741688ffa46e" providerId="LiveId" clId="{7BC772F6-FFD4-4730-843F-55EA2BAEE279}"/>
    <pc:docChg chg="custSel modSld">
      <pc:chgData name="Rohit Malik" userId="79b6741688ffa46e" providerId="LiveId" clId="{7BC772F6-FFD4-4730-843F-55EA2BAEE279}" dt="2026-07-09T13:06:44.316" v="19" actId="1076"/>
      <pc:docMkLst>
        <pc:docMk/>
      </pc:docMkLst>
      <pc:sldChg chg="modSp mod">
        <pc:chgData name="Rohit Malik" userId="79b6741688ffa46e" providerId="LiveId" clId="{7BC772F6-FFD4-4730-843F-55EA2BAEE279}" dt="2026-07-09T13:03:30.901" v="7"/>
        <pc:sldMkLst>
          <pc:docMk/>
          <pc:sldMk cId="0" sldId="260"/>
        </pc:sldMkLst>
        <pc:spChg chg="mod">
          <ac:chgData name="Rohit Malik" userId="79b6741688ffa46e" providerId="LiveId" clId="{7BC772F6-FFD4-4730-843F-55EA2BAEE279}" dt="2026-07-09T12:59:52.459" v="4" actId="20577"/>
          <ac:spMkLst>
            <pc:docMk/>
            <pc:sldMk cId="0" sldId="260"/>
            <ac:spMk id="50" creationId="{00000000-0000-0000-0000-000000000000}"/>
          </ac:spMkLst>
        </pc:spChg>
        <pc:spChg chg="mod">
          <ac:chgData name="Rohit Malik" userId="79b6741688ffa46e" providerId="LiveId" clId="{7BC772F6-FFD4-4730-843F-55EA2BAEE279}" dt="2026-07-09T13:01:53.325" v="6"/>
          <ac:spMkLst>
            <pc:docMk/>
            <pc:sldMk cId="0" sldId="260"/>
            <ac:spMk id="52" creationId="{00000000-0000-0000-0000-000000000000}"/>
          </ac:spMkLst>
        </pc:spChg>
        <pc:spChg chg="mod">
          <ac:chgData name="Rohit Malik" userId="79b6741688ffa46e" providerId="LiveId" clId="{7BC772F6-FFD4-4730-843F-55EA2BAEE279}" dt="2026-07-09T12:59:39.748" v="2" actId="20577"/>
          <ac:spMkLst>
            <pc:docMk/>
            <pc:sldMk cId="0" sldId="260"/>
            <ac:spMk id="59" creationId="{00000000-0000-0000-0000-000000000000}"/>
          </ac:spMkLst>
        </pc:spChg>
        <pc:spChg chg="mod">
          <ac:chgData name="Rohit Malik" userId="79b6741688ffa46e" providerId="LiveId" clId="{7BC772F6-FFD4-4730-843F-55EA2BAEE279}" dt="2026-07-09T13:03:30.901" v="7"/>
          <ac:spMkLst>
            <pc:docMk/>
            <pc:sldMk cId="0" sldId="260"/>
            <ac:spMk id="61" creationId="{00000000-0000-0000-0000-000000000000}"/>
          </ac:spMkLst>
        </pc:spChg>
        <pc:grpChg chg="mod">
          <ac:chgData name="Rohit Malik" userId="79b6741688ffa46e" providerId="LiveId" clId="{7BC772F6-FFD4-4730-843F-55EA2BAEE279}" dt="2026-07-09T13:00:08.633" v="5" actId="14100"/>
          <ac:grpSpMkLst>
            <pc:docMk/>
            <pc:sldMk cId="0" sldId="260"/>
            <ac:grpSpMk id="47" creationId="{00000000-0000-0000-0000-000000000000}"/>
          </ac:grpSpMkLst>
        </pc:grpChg>
      </pc:sldChg>
      <pc:sldChg chg="addSp delSp modSp mod">
        <pc:chgData name="Rohit Malik" userId="79b6741688ffa46e" providerId="LiveId" clId="{7BC772F6-FFD4-4730-843F-55EA2BAEE279}" dt="2026-07-09T13:06:44.316" v="19" actId="1076"/>
        <pc:sldMkLst>
          <pc:docMk/>
          <pc:sldMk cId="248941745" sldId="269"/>
        </pc:sldMkLst>
        <pc:spChg chg="add del mod">
          <ac:chgData name="Rohit Malik" userId="79b6741688ffa46e" providerId="LiveId" clId="{7BC772F6-FFD4-4730-843F-55EA2BAEE279}" dt="2026-07-09T13:05:49.137" v="17"/>
          <ac:spMkLst>
            <pc:docMk/>
            <pc:sldMk cId="248941745" sldId="269"/>
            <ac:spMk id="5" creationId="{CDE06637-5172-071D-81D0-DEFE23F43831}"/>
          </ac:spMkLst>
        </pc:spChg>
        <pc:picChg chg="del">
          <ac:chgData name="Rohit Malik" userId="79b6741688ffa46e" providerId="LiveId" clId="{7BC772F6-FFD4-4730-843F-55EA2BAEE279}" dt="2026-07-09T13:04:03.333" v="8" actId="478"/>
          <ac:picMkLst>
            <pc:docMk/>
            <pc:sldMk cId="248941745" sldId="269"/>
            <ac:picMk id="4" creationId="{C2E86E41-62B1-B9B4-6CD9-69404DCA1D39}"/>
          </ac:picMkLst>
        </pc:picChg>
        <pc:picChg chg="add mod">
          <ac:chgData name="Rohit Malik" userId="79b6741688ffa46e" providerId="LiveId" clId="{7BC772F6-FFD4-4730-843F-55EA2BAEE279}" dt="2026-07-09T13:06:44.316" v="19" actId="1076"/>
          <ac:picMkLst>
            <pc:docMk/>
            <pc:sldMk cId="248941745" sldId="269"/>
            <ac:picMk id="7" creationId="{0D8398F1-373F-01D6-4FBC-1A43EC07B05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svg"/><Relationship Id="rId20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19" Type="http://schemas.openxmlformats.org/officeDocument/2006/relationships/image" Target="../media/image20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Relationship Id="rId22" Type="http://schemas.openxmlformats.org/officeDocument/2006/relationships/image" Target="../media/image2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18" Type="http://schemas.openxmlformats.org/officeDocument/2006/relationships/image" Target="../media/image40.svg"/><Relationship Id="rId26" Type="http://schemas.openxmlformats.org/officeDocument/2006/relationships/image" Target="../media/image48.svg"/><Relationship Id="rId3" Type="http://schemas.openxmlformats.org/officeDocument/2006/relationships/image" Target="../media/image25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2" Type="http://schemas.openxmlformats.org/officeDocument/2006/relationships/image" Target="../media/image24.png"/><Relationship Id="rId16" Type="http://schemas.openxmlformats.org/officeDocument/2006/relationships/image" Target="../media/image38.svg"/><Relationship Id="rId20" Type="http://schemas.openxmlformats.org/officeDocument/2006/relationships/image" Target="../media/image4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24" Type="http://schemas.openxmlformats.org/officeDocument/2006/relationships/image" Target="../media/image46.sv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10" Type="http://schemas.openxmlformats.org/officeDocument/2006/relationships/image" Target="../media/image32.svg"/><Relationship Id="rId19" Type="http://schemas.openxmlformats.org/officeDocument/2006/relationships/image" Target="../media/image41.png"/><Relationship Id="rId4" Type="http://schemas.openxmlformats.org/officeDocument/2006/relationships/image" Target="../media/image26.svg"/><Relationship Id="rId9" Type="http://schemas.openxmlformats.org/officeDocument/2006/relationships/image" Target="../media/image31.png"/><Relationship Id="rId14" Type="http://schemas.openxmlformats.org/officeDocument/2006/relationships/image" Target="../media/image36.svg"/><Relationship Id="rId22" Type="http://schemas.openxmlformats.org/officeDocument/2006/relationships/image" Target="../media/image4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svg"/><Relationship Id="rId18" Type="http://schemas.openxmlformats.org/officeDocument/2006/relationships/image" Target="../media/image66.png"/><Relationship Id="rId3" Type="http://schemas.openxmlformats.org/officeDocument/2006/relationships/image" Target="../media/image51.svg"/><Relationship Id="rId7" Type="http://schemas.openxmlformats.org/officeDocument/2006/relationships/image" Target="../media/image55.svg"/><Relationship Id="rId12" Type="http://schemas.openxmlformats.org/officeDocument/2006/relationships/image" Target="../media/image60.png"/><Relationship Id="rId17" Type="http://schemas.openxmlformats.org/officeDocument/2006/relationships/image" Target="../media/image65.svg"/><Relationship Id="rId2" Type="http://schemas.openxmlformats.org/officeDocument/2006/relationships/image" Target="../media/image50.png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9.svg"/><Relationship Id="rId5" Type="http://schemas.openxmlformats.org/officeDocument/2006/relationships/image" Target="../media/image53.svg"/><Relationship Id="rId15" Type="http://schemas.openxmlformats.org/officeDocument/2006/relationships/image" Target="../media/image63.svg"/><Relationship Id="rId10" Type="http://schemas.openxmlformats.org/officeDocument/2006/relationships/image" Target="../media/image58.png"/><Relationship Id="rId19" Type="http://schemas.openxmlformats.org/officeDocument/2006/relationships/image" Target="../media/image67.svg"/><Relationship Id="rId4" Type="http://schemas.openxmlformats.org/officeDocument/2006/relationships/image" Target="../media/image52.png"/><Relationship Id="rId9" Type="http://schemas.openxmlformats.org/officeDocument/2006/relationships/image" Target="../media/image57.svg"/><Relationship Id="rId14" Type="http://schemas.openxmlformats.org/officeDocument/2006/relationships/image" Target="../media/image6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svg"/><Relationship Id="rId7" Type="http://schemas.openxmlformats.org/officeDocument/2006/relationships/image" Target="../media/image74.sv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sv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svg"/><Relationship Id="rId13" Type="http://schemas.openxmlformats.org/officeDocument/2006/relationships/image" Target="../media/image90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sv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sv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svg"/><Relationship Id="rId4" Type="http://schemas.openxmlformats.org/officeDocument/2006/relationships/image" Target="../media/image81.svg"/><Relationship Id="rId9" Type="http://schemas.openxmlformats.org/officeDocument/2006/relationships/image" Target="../media/image86.png"/><Relationship Id="rId14" Type="http://schemas.openxmlformats.org/officeDocument/2006/relationships/image" Target="../media/image9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sv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svg"/><Relationship Id="rId3" Type="http://schemas.openxmlformats.org/officeDocument/2006/relationships/image" Target="../media/image97.svg"/><Relationship Id="rId7" Type="http://schemas.openxmlformats.org/officeDocument/2006/relationships/image" Target="../media/image100.png"/><Relationship Id="rId12" Type="http://schemas.openxmlformats.org/officeDocument/2006/relationships/image" Target="../media/image105.sv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sv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0" Type="http://schemas.openxmlformats.org/officeDocument/2006/relationships/image" Target="../media/image103.svg"/><Relationship Id="rId4" Type="http://schemas.openxmlformats.org/officeDocument/2006/relationships/image" Target="../media/image79.png"/><Relationship Id="rId9" Type="http://schemas.openxmlformats.org/officeDocument/2006/relationships/image" Target="../media/image10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5.svg"/><Relationship Id="rId3" Type="http://schemas.openxmlformats.org/officeDocument/2006/relationships/image" Target="../media/image107.svg"/><Relationship Id="rId7" Type="http://schemas.openxmlformats.org/officeDocument/2006/relationships/image" Target="../media/image111.svg"/><Relationship Id="rId12" Type="http://schemas.openxmlformats.org/officeDocument/2006/relationships/image" Target="../media/image114.png"/><Relationship Id="rId17" Type="http://schemas.openxmlformats.org/officeDocument/2006/relationships/image" Target="../media/image117.svg"/><Relationship Id="rId2" Type="http://schemas.openxmlformats.org/officeDocument/2006/relationships/image" Target="../media/image106.png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11" Type="http://schemas.openxmlformats.org/officeDocument/2006/relationships/image" Target="../media/image19.svg"/><Relationship Id="rId5" Type="http://schemas.openxmlformats.org/officeDocument/2006/relationships/image" Target="../media/image109.svg"/><Relationship Id="rId15" Type="http://schemas.openxmlformats.org/officeDocument/2006/relationships/image" Target="../media/image65.svg"/><Relationship Id="rId10" Type="http://schemas.openxmlformats.org/officeDocument/2006/relationships/image" Target="../media/image18.png"/><Relationship Id="rId4" Type="http://schemas.openxmlformats.org/officeDocument/2006/relationships/image" Target="../media/image108.png"/><Relationship Id="rId9" Type="http://schemas.openxmlformats.org/officeDocument/2006/relationships/image" Target="../media/image113.svg"/><Relationship Id="rId14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18365C05-6A86-9B39-546F-091FD6305E9E}"/>
              </a:ext>
            </a:extLst>
          </p:cNvPr>
          <p:cNvSpPr/>
          <p:nvPr/>
        </p:nvSpPr>
        <p:spPr>
          <a:xfrm>
            <a:off x="5334001" y="2987960"/>
            <a:ext cx="838200" cy="689327"/>
          </a:xfrm>
          <a:custGeom>
            <a:avLst/>
            <a:gdLst/>
            <a:ahLst/>
            <a:cxnLst/>
            <a:rect l="l" t="t" r="r" b="b"/>
            <a:pathLst>
              <a:path w="1276987" h="1276987">
                <a:moveTo>
                  <a:pt x="0" y="0"/>
                </a:moveTo>
                <a:lnTo>
                  <a:pt x="1276987" y="0"/>
                </a:lnTo>
                <a:lnTo>
                  <a:pt x="1276987" y="1276987"/>
                </a:lnTo>
                <a:lnTo>
                  <a:pt x="0" y="1276987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DFA62224-F22F-5A6D-A56A-8391E82B10C4}"/>
              </a:ext>
            </a:extLst>
          </p:cNvPr>
          <p:cNvSpPr/>
          <p:nvPr/>
        </p:nvSpPr>
        <p:spPr>
          <a:xfrm rot="5905237">
            <a:off x="-390752" y="-486599"/>
            <a:ext cx="2604024" cy="299750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</p:spPr>
        <p:txBody>
          <a:bodyPr/>
          <a:lstStyle/>
          <a:p>
            <a:endParaRPr lang="en-IN" dirty="0"/>
          </a:p>
        </p:txBody>
      </p:sp>
      <p:grpSp>
        <p:nvGrpSpPr>
          <p:cNvPr id="5" name="Group 8">
            <a:extLst>
              <a:ext uri="{FF2B5EF4-FFF2-40B4-BE49-F238E27FC236}">
                <a16:creationId xmlns:a16="http://schemas.microsoft.com/office/drawing/2014/main" id="{1FB6F09D-69ED-DF00-D30E-A86074B2CDB8}"/>
              </a:ext>
            </a:extLst>
          </p:cNvPr>
          <p:cNvGrpSpPr/>
          <p:nvPr/>
        </p:nvGrpSpPr>
        <p:grpSpPr>
          <a:xfrm>
            <a:off x="3780887" y="6806093"/>
            <a:ext cx="8991405" cy="796285"/>
            <a:chOff x="-9023" y="-14725"/>
            <a:chExt cx="1352022" cy="154978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E20E4064-8743-2ABE-A4F3-583769183D4B}"/>
                </a:ext>
              </a:extLst>
            </p:cNvPr>
            <p:cNvSpPr/>
            <p:nvPr/>
          </p:nvSpPr>
          <p:spPr>
            <a:xfrm>
              <a:off x="0" y="0"/>
              <a:ext cx="1342999" cy="135928"/>
            </a:xfrm>
            <a:custGeom>
              <a:avLst/>
              <a:gdLst/>
              <a:ahLst/>
              <a:cxnLst/>
              <a:rect l="l" t="t" r="r" b="b"/>
              <a:pathLst>
                <a:path w="1342999" h="135928">
                  <a:moveTo>
                    <a:pt x="20195" y="0"/>
                  </a:moveTo>
                  <a:lnTo>
                    <a:pt x="1322804" y="0"/>
                  </a:lnTo>
                  <a:cubicBezTo>
                    <a:pt x="1333957" y="0"/>
                    <a:pt x="1342999" y="9042"/>
                    <a:pt x="1342999" y="20195"/>
                  </a:cubicBezTo>
                  <a:lnTo>
                    <a:pt x="1342999" y="115733"/>
                  </a:lnTo>
                  <a:cubicBezTo>
                    <a:pt x="1342999" y="126887"/>
                    <a:pt x="1333957" y="135928"/>
                    <a:pt x="1322804" y="135928"/>
                  </a:cubicBezTo>
                  <a:lnTo>
                    <a:pt x="20195" y="135928"/>
                  </a:lnTo>
                  <a:cubicBezTo>
                    <a:pt x="9042" y="135928"/>
                    <a:pt x="0" y="126887"/>
                    <a:pt x="0" y="115733"/>
                  </a:cubicBezTo>
                  <a:lnTo>
                    <a:pt x="0" y="20195"/>
                  </a:lnTo>
                  <a:cubicBezTo>
                    <a:pt x="0" y="9042"/>
                    <a:pt x="9042" y="0"/>
                    <a:pt x="20195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534F4BD2-8A91-EECF-06CE-BE2AB5202C79}"/>
                </a:ext>
              </a:extLst>
            </p:cNvPr>
            <p:cNvSpPr txBox="1"/>
            <p:nvPr/>
          </p:nvSpPr>
          <p:spPr>
            <a:xfrm>
              <a:off x="-9023" y="-14725"/>
              <a:ext cx="1342999" cy="154978"/>
            </a:xfrm>
            <a:prstGeom prst="rect">
              <a:avLst/>
            </a:prstGeom>
          </p:spPr>
          <p:txBody>
            <a:bodyPr lIns="68744" tIns="68744" rIns="68744" bIns="68744" rtlCol="0" anchor="ctr"/>
            <a:lstStyle/>
            <a:p>
              <a:pPr marL="0" indent="0" algn="ctr">
                <a:buNone/>
              </a:pPr>
              <a:r>
                <a:rPr lang="en-US" sz="4400" b="1" dirty="0">
                  <a:solidFill>
                    <a:srgbClr val="00B050"/>
                  </a:solidFill>
                  <a:sym typeface="+mn-ea"/>
                </a:rPr>
                <a:t>• Excel  •  Tableau  •  Power BI  •  SQL</a:t>
              </a:r>
              <a:endParaRPr lang="en-US" sz="4400" b="1" spc="119" dirty="0">
                <a:solidFill>
                  <a:srgbClr val="00B05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+mn-ea"/>
              </a:endParaRPr>
            </a:p>
          </p:txBody>
        </p:sp>
      </p:grpSp>
      <p:sp>
        <p:nvSpPr>
          <p:cNvPr id="8" name="Freeform 13">
            <a:extLst>
              <a:ext uri="{FF2B5EF4-FFF2-40B4-BE49-F238E27FC236}">
                <a16:creationId xmlns:a16="http://schemas.microsoft.com/office/drawing/2014/main" id="{CF94AA82-FCE7-564E-E75E-E7DCD7B59571}"/>
              </a:ext>
            </a:extLst>
          </p:cNvPr>
          <p:cNvSpPr/>
          <p:nvPr/>
        </p:nvSpPr>
        <p:spPr>
          <a:xfrm rot="7682761">
            <a:off x="14146738" y="8589103"/>
            <a:ext cx="631420" cy="631420"/>
          </a:xfrm>
          <a:custGeom>
            <a:avLst/>
            <a:gdLst/>
            <a:ahLst/>
            <a:cxnLst/>
            <a:rect l="l" t="t" r="r" b="b"/>
            <a:pathLst>
              <a:path w="631420" h="631420">
                <a:moveTo>
                  <a:pt x="0" y="0"/>
                </a:moveTo>
                <a:lnTo>
                  <a:pt x="631420" y="0"/>
                </a:lnTo>
                <a:lnTo>
                  <a:pt x="631420" y="631420"/>
                </a:lnTo>
                <a:lnTo>
                  <a:pt x="0" y="631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61434162-A7CF-D39E-3043-707C98D016E2}"/>
              </a:ext>
            </a:extLst>
          </p:cNvPr>
          <p:cNvSpPr txBox="1"/>
          <p:nvPr/>
        </p:nvSpPr>
        <p:spPr>
          <a:xfrm>
            <a:off x="3505401" y="3010182"/>
            <a:ext cx="10972404" cy="37959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845"/>
              </a:lnSpc>
            </a:pPr>
            <a:r>
              <a:rPr lang="en-US" sz="12370" b="1" spc="841" dirty="0">
                <a:solidFill>
                  <a:srgbClr val="000000"/>
                </a:solidFill>
                <a:latin typeface="Arial" panose="020B0604020202020204" pitchFamily="34" charset="0"/>
                <a:ea typeface="Codec Pro" panose="00000500000000000000"/>
                <a:cs typeface="Arial" panose="020B0604020202020204" pitchFamily="34" charset="0"/>
                <a:sym typeface="Codec Pro" panose="00000500000000000000"/>
              </a:rPr>
              <a:t>HR</a:t>
            </a:r>
          </a:p>
          <a:p>
            <a:pPr algn="l">
              <a:lnSpc>
                <a:spcPts val="14845"/>
              </a:lnSpc>
            </a:pPr>
            <a:r>
              <a:rPr lang="en-US" sz="12370" b="1" spc="841" dirty="0">
                <a:solidFill>
                  <a:srgbClr val="000000"/>
                </a:solidFill>
                <a:latin typeface="Arial" panose="020B0604020202020204" pitchFamily="34" charset="0"/>
                <a:ea typeface="Codec Pro" panose="00000500000000000000"/>
                <a:cs typeface="Arial" panose="020B0604020202020204" pitchFamily="34" charset="0"/>
                <a:sym typeface="Codec Pro" panose="00000500000000000000"/>
              </a:rPr>
              <a:t>ANALYTICS</a:t>
            </a: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8192B0DE-C314-D8FB-A0F7-10901985893F}"/>
              </a:ext>
            </a:extLst>
          </p:cNvPr>
          <p:cNvSpPr/>
          <p:nvPr/>
        </p:nvSpPr>
        <p:spPr>
          <a:xfrm rot="19142761">
            <a:off x="16161094" y="720766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</p:spPr>
      </p:sp>
    </p:spTree>
    <p:extLst>
      <p:ext uri="{BB962C8B-B14F-4D97-AF65-F5344CB8AC3E}">
        <p14:creationId xmlns:p14="http://schemas.microsoft.com/office/powerpoint/2010/main" val="1805870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86467" y="2362047"/>
            <a:ext cx="3344656" cy="1674061"/>
          </a:xfrm>
          <a:custGeom>
            <a:avLst/>
            <a:gdLst/>
            <a:ahLst/>
            <a:cxnLst/>
            <a:rect l="l" t="t" r="r" b="b"/>
            <a:pathLst>
              <a:path w="3344656" h="1674061">
                <a:moveTo>
                  <a:pt x="0" y="606582"/>
                </a:moveTo>
                <a:lnTo>
                  <a:pt x="0" y="228600"/>
                </a:lnTo>
                <a:cubicBezTo>
                  <a:pt x="0" y="167971"/>
                  <a:pt x="24085" y="109826"/>
                  <a:pt x="66955" y="66955"/>
                </a:cubicBezTo>
                <a:cubicBezTo>
                  <a:pt x="109826" y="24084"/>
                  <a:pt x="167972" y="0"/>
                  <a:pt x="228600" y="0"/>
                </a:cubicBezTo>
                <a:lnTo>
                  <a:pt x="1704357" y="0"/>
                </a:lnTo>
                <a:cubicBezTo>
                  <a:pt x="1830609" y="0"/>
                  <a:pt x="1932957" y="102347"/>
                  <a:pt x="1932957" y="228600"/>
                </a:cubicBezTo>
                <a:lnTo>
                  <a:pt x="1932957" y="497143"/>
                </a:lnTo>
                <a:cubicBezTo>
                  <a:pt x="1932957" y="623395"/>
                  <a:pt x="2035304" y="725743"/>
                  <a:pt x="2161557" y="725743"/>
                </a:cubicBezTo>
                <a:lnTo>
                  <a:pt x="3116056" y="725743"/>
                </a:lnTo>
                <a:cubicBezTo>
                  <a:pt x="3176685" y="725743"/>
                  <a:pt x="3234830" y="749827"/>
                  <a:pt x="3277701" y="792698"/>
                </a:cubicBezTo>
                <a:cubicBezTo>
                  <a:pt x="3320572" y="835569"/>
                  <a:pt x="3344656" y="893714"/>
                  <a:pt x="3344656" y="954343"/>
                </a:cubicBezTo>
                <a:lnTo>
                  <a:pt x="3344656" y="1674060"/>
                </a:lnTo>
              </a:path>
            </a:pathLst>
          </a:custGeom>
          <a:ln w="28575" cap="rnd">
            <a:solidFill>
              <a:srgbClr val="C7D2D9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5831123" y="3346422"/>
            <a:ext cx="3344656" cy="1362311"/>
          </a:xfrm>
          <a:custGeom>
            <a:avLst/>
            <a:gdLst/>
            <a:ahLst/>
            <a:cxnLst/>
            <a:rect l="l" t="t" r="r" b="b"/>
            <a:pathLst>
              <a:path w="3344656" h="1362311">
                <a:moveTo>
                  <a:pt x="3344656" y="1362310"/>
                </a:moveTo>
                <a:lnTo>
                  <a:pt x="3344656" y="228600"/>
                </a:lnTo>
                <a:cubicBezTo>
                  <a:pt x="3344656" y="102347"/>
                  <a:pt x="3242308" y="0"/>
                  <a:pt x="3116056" y="0"/>
                </a:cubicBezTo>
                <a:lnTo>
                  <a:pt x="228600" y="0"/>
                </a:lnTo>
                <a:cubicBezTo>
                  <a:pt x="167972" y="0"/>
                  <a:pt x="109826" y="24084"/>
                  <a:pt x="66955" y="66955"/>
                </a:cubicBezTo>
                <a:cubicBezTo>
                  <a:pt x="24085" y="109826"/>
                  <a:pt x="0" y="167971"/>
                  <a:pt x="0" y="228600"/>
                </a:cubicBezTo>
                <a:lnTo>
                  <a:pt x="0" y="689685"/>
                </a:lnTo>
              </a:path>
            </a:pathLst>
          </a:custGeom>
          <a:ln w="28575" cap="rnd">
            <a:solidFill>
              <a:srgbClr val="C7D2D9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9175779" y="3346422"/>
            <a:ext cx="3344656" cy="1362311"/>
          </a:xfrm>
          <a:custGeom>
            <a:avLst/>
            <a:gdLst/>
            <a:ahLst/>
            <a:cxnLst/>
            <a:rect l="l" t="t" r="r" b="b"/>
            <a:pathLst>
              <a:path w="3344656" h="1362311">
                <a:moveTo>
                  <a:pt x="0" y="1362310"/>
                </a:moveTo>
                <a:lnTo>
                  <a:pt x="0" y="228600"/>
                </a:lnTo>
                <a:cubicBezTo>
                  <a:pt x="0" y="167971"/>
                  <a:pt x="24085" y="109826"/>
                  <a:pt x="66956" y="66955"/>
                </a:cubicBezTo>
                <a:cubicBezTo>
                  <a:pt x="109826" y="24084"/>
                  <a:pt x="167972" y="0"/>
                  <a:pt x="228600" y="0"/>
                </a:cubicBezTo>
                <a:lnTo>
                  <a:pt x="3116057" y="0"/>
                </a:lnTo>
                <a:cubicBezTo>
                  <a:pt x="3242309" y="0"/>
                  <a:pt x="3344657" y="102347"/>
                  <a:pt x="3344657" y="228600"/>
                </a:cubicBezTo>
                <a:lnTo>
                  <a:pt x="3344657" y="689685"/>
                </a:lnTo>
              </a:path>
            </a:pathLst>
          </a:custGeom>
          <a:ln w="28575" cap="rnd">
            <a:solidFill>
              <a:srgbClr val="C7D2D9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2520436" y="2362047"/>
            <a:ext cx="3344656" cy="1674061"/>
          </a:xfrm>
          <a:custGeom>
            <a:avLst/>
            <a:gdLst/>
            <a:ahLst/>
            <a:cxnLst/>
            <a:rect l="l" t="t" r="r" b="b"/>
            <a:pathLst>
              <a:path w="3344656" h="1674061">
                <a:moveTo>
                  <a:pt x="3344656" y="606582"/>
                </a:moveTo>
                <a:lnTo>
                  <a:pt x="3344656" y="228600"/>
                </a:lnTo>
                <a:cubicBezTo>
                  <a:pt x="3344656" y="167971"/>
                  <a:pt x="3320572" y="109826"/>
                  <a:pt x="3277700" y="66955"/>
                </a:cubicBezTo>
                <a:cubicBezTo>
                  <a:pt x="3234830" y="24084"/>
                  <a:pt x="3176685" y="0"/>
                  <a:pt x="3116056" y="0"/>
                </a:cubicBezTo>
                <a:lnTo>
                  <a:pt x="1562404" y="0"/>
                </a:lnTo>
                <a:cubicBezTo>
                  <a:pt x="1436151" y="0"/>
                  <a:pt x="1333804" y="102347"/>
                  <a:pt x="1333804" y="228600"/>
                </a:cubicBezTo>
                <a:lnTo>
                  <a:pt x="1333804" y="497143"/>
                </a:lnTo>
                <a:cubicBezTo>
                  <a:pt x="1333804" y="623395"/>
                  <a:pt x="1231456" y="725743"/>
                  <a:pt x="1105204" y="725743"/>
                </a:cubicBezTo>
                <a:lnTo>
                  <a:pt x="228600" y="725743"/>
                </a:lnTo>
                <a:cubicBezTo>
                  <a:pt x="167971" y="725743"/>
                  <a:pt x="109826" y="749827"/>
                  <a:pt x="66955" y="792698"/>
                </a:cubicBezTo>
                <a:cubicBezTo>
                  <a:pt x="24084" y="835569"/>
                  <a:pt x="0" y="893714"/>
                  <a:pt x="0" y="954343"/>
                </a:cubicBezTo>
                <a:lnTo>
                  <a:pt x="0" y="1674060"/>
                </a:lnTo>
              </a:path>
            </a:pathLst>
          </a:custGeom>
          <a:ln w="28575" cap="rnd">
            <a:solidFill>
              <a:srgbClr val="C7D2D9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 rot="5400000">
            <a:off x="2153670" y="6271320"/>
            <a:ext cx="665593" cy="2698215"/>
          </a:xfrm>
          <a:custGeom>
            <a:avLst/>
            <a:gdLst/>
            <a:ahLst/>
            <a:cxnLst/>
            <a:rect l="l" t="t" r="r" b="b"/>
            <a:pathLst>
              <a:path w="665593" h="2698215">
                <a:moveTo>
                  <a:pt x="0" y="0"/>
                </a:moveTo>
                <a:lnTo>
                  <a:pt x="665594" y="0"/>
                </a:lnTo>
                <a:lnTo>
                  <a:pt x="665594" y="2698215"/>
                </a:lnTo>
                <a:lnTo>
                  <a:pt x="0" y="2698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77632"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15532296" y="6271320"/>
            <a:ext cx="665593" cy="2698215"/>
          </a:xfrm>
          <a:custGeom>
            <a:avLst/>
            <a:gdLst/>
            <a:ahLst/>
            <a:cxnLst/>
            <a:rect l="l" t="t" r="r" b="b"/>
            <a:pathLst>
              <a:path w="665593" h="2698215">
                <a:moveTo>
                  <a:pt x="0" y="0"/>
                </a:moveTo>
                <a:lnTo>
                  <a:pt x="665593" y="0"/>
                </a:lnTo>
                <a:lnTo>
                  <a:pt x="665593" y="2698215"/>
                </a:lnTo>
                <a:lnTo>
                  <a:pt x="0" y="2698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77632"/>
            </a:stretch>
          </a:blipFill>
        </p:spPr>
      </p:sp>
      <p:sp>
        <p:nvSpPr>
          <p:cNvPr id="8" name="Freeform 8"/>
          <p:cNvSpPr/>
          <p:nvPr/>
        </p:nvSpPr>
        <p:spPr>
          <a:xfrm rot="5400000">
            <a:off x="5498327" y="7242802"/>
            <a:ext cx="665593" cy="2698215"/>
          </a:xfrm>
          <a:custGeom>
            <a:avLst/>
            <a:gdLst/>
            <a:ahLst/>
            <a:cxnLst/>
            <a:rect l="l" t="t" r="r" b="b"/>
            <a:pathLst>
              <a:path w="665593" h="2698215">
                <a:moveTo>
                  <a:pt x="0" y="0"/>
                </a:moveTo>
                <a:lnTo>
                  <a:pt x="665593" y="0"/>
                </a:lnTo>
                <a:lnTo>
                  <a:pt x="665593" y="2698215"/>
                </a:lnTo>
                <a:lnTo>
                  <a:pt x="0" y="2698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77632"/>
            </a:stretch>
          </a:blipFill>
        </p:spPr>
      </p:sp>
      <p:sp>
        <p:nvSpPr>
          <p:cNvPr id="9" name="Freeform 9"/>
          <p:cNvSpPr/>
          <p:nvPr/>
        </p:nvSpPr>
        <p:spPr>
          <a:xfrm rot="5400000">
            <a:off x="12187639" y="7242802"/>
            <a:ext cx="665593" cy="2698215"/>
          </a:xfrm>
          <a:custGeom>
            <a:avLst/>
            <a:gdLst/>
            <a:ahLst/>
            <a:cxnLst/>
            <a:rect l="l" t="t" r="r" b="b"/>
            <a:pathLst>
              <a:path w="665593" h="2698215">
                <a:moveTo>
                  <a:pt x="0" y="0"/>
                </a:moveTo>
                <a:lnTo>
                  <a:pt x="665594" y="0"/>
                </a:lnTo>
                <a:lnTo>
                  <a:pt x="665594" y="2698215"/>
                </a:lnTo>
                <a:lnTo>
                  <a:pt x="0" y="2698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77632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137359" y="3616430"/>
            <a:ext cx="2698215" cy="3861701"/>
            <a:chOff x="0" y="0"/>
            <a:chExt cx="698680" cy="9999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8680" cy="999955"/>
            </a:xfrm>
            <a:custGeom>
              <a:avLst/>
              <a:gdLst/>
              <a:ahLst/>
              <a:cxnLst/>
              <a:rect l="l" t="t" r="r" b="b"/>
              <a:pathLst>
                <a:path w="698680" h="999955">
                  <a:moveTo>
                    <a:pt x="65993" y="0"/>
                  </a:moveTo>
                  <a:lnTo>
                    <a:pt x="632687" y="0"/>
                  </a:lnTo>
                  <a:cubicBezTo>
                    <a:pt x="650190" y="0"/>
                    <a:pt x="666975" y="6953"/>
                    <a:pt x="679351" y="19329"/>
                  </a:cubicBezTo>
                  <a:cubicBezTo>
                    <a:pt x="691727" y="31705"/>
                    <a:pt x="698680" y="48491"/>
                    <a:pt x="698680" y="65993"/>
                  </a:cubicBezTo>
                  <a:lnTo>
                    <a:pt x="698680" y="933962"/>
                  </a:lnTo>
                  <a:cubicBezTo>
                    <a:pt x="698680" y="951464"/>
                    <a:pt x="691727" y="968250"/>
                    <a:pt x="679351" y="980626"/>
                  </a:cubicBezTo>
                  <a:cubicBezTo>
                    <a:pt x="666975" y="993002"/>
                    <a:pt x="650190" y="999955"/>
                    <a:pt x="632687" y="999955"/>
                  </a:cubicBezTo>
                  <a:lnTo>
                    <a:pt x="65993" y="999955"/>
                  </a:lnTo>
                  <a:cubicBezTo>
                    <a:pt x="48491" y="999955"/>
                    <a:pt x="31705" y="993002"/>
                    <a:pt x="19329" y="980626"/>
                  </a:cubicBezTo>
                  <a:cubicBezTo>
                    <a:pt x="6953" y="968250"/>
                    <a:pt x="0" y="951464"/>
                    <a:pt x="0" y="933962"/>
                  </a:cubicBezTo>
                  <a:lnTo>
                    <a:pt x="0" y="65993"/>
                  </a:lnTo>
                  <a:cubicBezTo>
                    <a:pt x="0" y="48491"/>
                    <a:pt x="6953" y="31705"/>
                    <a:pt x="19329" y="19329"/>
                  </a:cubicBezTo>
                  <a:cubicBezTo>
                    <a:pt x="31705" y="6953"/>
                    <a:pt x="48491" y="0"/>
                    <a:pt x="6599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98680" cy="1047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016059" y="2667000"/>
            <a:ext cx="2940815" cy="1879860"/>
          </a:xfrm>
          <a:custGeom>
            <a:avLst/>
            <a:gdLst/>
            <a:ahLst/>
            <a:cxnLst/>
            <a:rect l="l" t="t" r="r" b="b"/>
            <a:pathLst>
              <a:path w="2940815" h="1879860">
                <a:moveTo>
                  <a:pt x="0" y="0"/>
                </a:moveTo>
                <a:lnTo>
                  <a:pt x="2940816" y="0"/>
                </a:lnTo>
                <a:lnTo>
                  <a:pt x="2940816" y="1879860"/>
                </a:lnTo>
                <a:lnTo>
                  <a:pt x="0" y="1879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4482016" y="4587912"/>
            <a:ext cx="2698215" cy="3861701"/>
            <a:chOff x="0" y="0"/>
            <a:chExt cx="698680" cy="99995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680" cy="999955"/>
            </a:xfrm>
            <a:custGeom>
              <a:avLst/>
              <a:gdLst/>
              <a:ahLst/>
              <a:cxnLst/>
              <a:rect l="l" t="t" r="r" b="b"/>
              <a:pathLst>
                <a:path w="698680" h="999955">
                  <a:moveTo>
                    <a:pt x="65993" y="0"/>
                  </a:moveTo>
                  <a:lnTo>
                    <a:pt x="632687" y="0"/>
                  </a:lnTo>
                  <a:cubicBezTo>
                    <a:pt x="650190" y="0"/>
                    <a:pt x="666975" y="6953"/>
                    <a:pt x="679351" y="19329"/>
                  </a:cubicBezTo>
                  <a:cubicBezTo>
                    <a:pt x="691727" y="31705"/>
                    <a:pt x="698680" y="48491"/>
                    <a:pt x="698680" y="65993"/>
                  </a:cubicBezTo>
                  <a:lnTo>
                    <a:pt x="698680" y="933962"/>
                  </a:lnTo>
                  <a:cubicBezTo>
                    <a:pt x="698680" y="951464"/>
                    <a:pt x="691727" y="968250"/>
                    <a:pt x="679351" y="980626"/>
                  </a:cubicBezTo>
                  <a:cubicBezTo>
                    <a:pt x="666975" y="993002"/>
                    <a:pt x="650190" y="999955"/>
                    <a:pt x="632687" y="999955"/>
                  </a:cubicBezTo>
                  <a:lnTo>
                    <a:pt x="65993" y="999955"/>
                  </a:lnTo>
                  <a:cubicBezTo>
                    <a:pt x="48491" y="999955"/>
                    <a:pt x="31705" y="993002"/>
                    <a:pt x="19329" y="980626"/>
                  </a:cubicBezTo>
                  <a:cubicBezTo>
                    <a:pt x="6953" y="968250"/>
                    <a:pt x="0" y="951464"/>
                    <a:pt x="0" y="933962"/>
                  </a:cubicBezTo>
                  <a:lnTo>
                    <a:pt x="0" y="65993"/>
                  </a:lnTo>
                  <a:cubicBezTo>
                    <a:pt x="0" y="48491"/>
                    <a:pt x="6953" y="31705"/>
                    <a:pt x="19329" y="19329"/>
                  </a:cubicBezTo>
                  <a:cubicBezTo>
                    <a:pt x="31705" y="6953"/>
                    <a:pt x="48491" y="0"/>
                    <a:pt x="6599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698680" cy="1047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>
            <a:off x="4360716" y="3638482"/>
            <a:ext cx="2940815" cy="1879860"/>
          </a:xfrm>
          <a:custGeom>
            <a:avLst/>
            <a:gdLst/>
            <a:ahLst/>
            <a:cxnLst/>
            <a:rect l="l" t="t" r="r" b="b"/>
            <a:pathLst>
              <a:path w="2940815" h="1879860">
                <a:moveTo>
                  <a:pt x="0" y="0"/>
                </a:moveTo>
                <a:lnTo>
                  <a:pt x="2940815" y="0"/>
                </a:lnTo>
                <a:lnTo>
                  <a:pt x="2940815" y="1879860"/>
                </a:lnTo>
                <a:lnTo>
                  <a:pt x="0" y="18798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 rot="5400000">
            <a:off x="3548062" y="2258905"/>
            <a:ext cx="238125" cy="208359"/>
            <a:chOff x="0" y="0"/>
            <a:chExt cx="812800" cy="711200"/>
          </a:xfrm>
        </p:grpSpPr>
        <p:sp>
          <p:nvSpPr>
            <p:cNvPr id="19" name="Freeform 19"/>
            <p:cNvSpPr/>
            <p:nvPr/>
          </p:nvSpPr>
          <p:spPr>
            <a:xfrm>
              <a:off x="68223" y="94337"/>
              <a:ext cx="676354" cy="616863"/>
            </a:xfrm>
            <a:custGeom>
              <a:avLst/>
              <a:gdLst/>
              <a:ahLst/>
              <a:cxnLst/>
              <a:rect l="l" t="t" r="r" b="b"/>
              <a:pathLst>
                <a:path w="676354" h="616863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C7D2D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 rot="5400000">
            <a:off x="14692312" y="2258905"/>
            <a:ext cx="238125" cy="208359"/>
            <a:chOff x="0" y="0"/>
            <a:chExt cx="812800" cy="711200"/>
          </a:xfrm>
        </p:grpSpPr>
        <p:sp>
          <p:nvSpPr>
            <p:cNvPr id="22" name="Freeform 22"/>
            <p:cNvSpPr/>
            <p:nvPr/>
          </p:nvSpPr>
          <p:spPr>
            <a:xfrm>
              <a:off x="68223" y="94337"/>
              <a:ext cx="676354" cy="616863"/>
            </a:xfrm>
            <a:custGeom>
              <a:avLst/>
              <a:gdLst/>
              <a:ahLst/>
              <a:cxnLst/>
              <a:rect l="l" t="t" r="r" b="b"/>
              <a:pathLst>
                <a:path w="676354" h="616863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C7D2D9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 rot="5400000">
            <a:off x="4926282" y="2983512"/>
            <a:ext cx="238125" cy="208359"/>
            <a:chOff x="0" y="0"/>
            <a:chExt cx="812800" cy="711200"/>
          </a:xfrm>
        </p:grpSpPr>
        <p:sp>
          <p:nvSpPr>
            <p:cNvPr id="25" name="Freeform 25"/>
            <p:cNvSpPr/>
            <p:nvPr/>
          </p:nvSpPr>
          <p:spPr>
            <a:xfrm>
              <a:off x="68223" y="94337"/>
              <a:ext cx="676354" cy="616863"/>
            </a:xfrm>
            <a:custGeom>
              <a:avLst/>
              <a:gdLst/>
              <a:ahLst/>
              <a:cxnLst/>
              <a:rect l="l" t="t" r="r" b="b"/>
              <a:pathLst>
                <a:path w="676354" h="616863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C7D2D9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 rot="5400000">
            <a:off x="13115877" y="2983512"/>
            <a:ext cx="238125" cy="208359"/>
            <a:chOff x="0" y="0"/>
            <a:chExt cx="812800" cy="711200"/>
          </a:xfrm>
        </p:grpSpPr>
        <p:sp>
          <p:nvSpPr>
            <p:cNvPr id="28" name="Freeform 28"/>
            <p:cNvSpPr/>
            <p:nvPr/>
          </p:nvSpPr>
          <p:spPr>
            <a:xfrm>
              <a:off x="68223" y="94337"/>
              <a:ext cx="676354" cy="616863"/>
            </a:xfrm>
            <a:custGeom>
              <a:avLst/>
              <a:gdLst/>
              <a:ahLst/>
              <a:cxnLst/>
              <a:rect l="l" t="t" r="r" b="b"/>
              <a:pathLst>
                <a:path w="676354" h="616863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C7D2D9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 rot="5400000">
            <a:off x="7450635" y="3241817"/>
            <a:ext cx="238125" cy="208359"/>
            <a:chOff x="0" y="0"/>
            <a:chExt cx="812800" cy="711200"/>
          </a:xfrm>
        </p:grpSpPr>
        <p:sp>
          <p:nvSpPr>
            <p:cNvPr id="31" name="Freeform 31"/>
            <p:cNvSpPr/>
            <p:nvPr/>
          </p:nvSpPr>
          <p:spPr>
            <a:xfrm>
              <a:off x="68223" y="94337"/>
              <a:ext cx="676354" cy="616863"/>
            </a:xfrm>
            <a:custGeom>
              <a:avLst/>
              <a:gdLst/>
              <a:ahLst/>
              <a:cxnLst/>
              <a:rect l="l" t="t" r="r" b="b"/>
              <a:pathLst>
                <a:path w="676354" h="616863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C7D2D9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 rot="5400000">
            <a:off x="10694850" y="3241817"/>
            <a:ext cx="238125" cy="208359"/>
            <a:chOff x="0" y="0"/>
            <a:chExt cx="812800" cy="711200"/>
          </a:xfrm>
        </p:grpSpPr>
        <p:sp>
          <p:nvSpPr>
            <p:cNvPr id="34" name="Freeform 34"/>
            <p:cNvSpPr/>
            <p:nvPr/>
          </p:nvSpPr>
          <p:spPr>
            <a:xfrm>
              <a:off x="68223" y="94337"/>
              <a:ext cx="676354" cy="616863"/>
            </a:xfrm>
            <a:custGeom>
              <a:avLst/>
              <a:gdLst/>
              <a:ahLst/>
              <a:cxnLst/>
              <a:rect l="l" t="t" r="r" b="b"/>
              <a:pathLst>
                <a:path w="676354" h="616863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C7D2D9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171328" y="4587912"/>
            <a:ext cx="2698215" cy="3861701"/>
            <a:chOff x="0" y="0"/>
            <a:chExt cx="698680" cy="99995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98680" cy="999955"/>
            </a:xfrm>
            <a:custGeom>
              <a:avLst/>
              <a:gdLst/>
              <a:ahLst/>
              <a:cxnLst/>
              <a:rect l="l" t="t" r="r" b="b"/>
              <a:pathLst>
                <a:path w="698680" h="999955">
                  <a:moveTo>
                    <a:pt x="65993" y="0"/>
                  </a:moveTo>
                  <a:lnTo>
                    <a:pt x="632687" y="0"/>
                  </a:lnTo>
                  <a:cubicBezTo>
                    <a:pt x="650190" y="0"/>
                    <a:pt x="666975" y="6953"/>
                    <a:pt x="679351" y="19329"/>
                  </a:cubicBezTo>
                  <a:cubicBezTo>
                    <a:pt x="691727" y="31705"/>
                    <a:pt x="698680" y="48491"/>
                    <a:pt x="698680" y="65993"/>
                  </a:cubicBezTo>
                  <a:lnTo>
                    <a:pt x="698680" y="933962"/>
                  </a:lnTo>
                  <a:cubicBezTo>
                    <a:pt x="698680" y="951464"/>
                    <a:pt x="691727" y="968250"/>
                    <a:pt x="679351" y="980626"/>
                  </a:cubicBezTo>
                  <a:cubicBezTo>
                    <a:pt x="666975" y="993002"/>
                    <a:pt x="650190" y="999955"/>
                    <a:pt x="632687" y="999955"/>
                  </a:cubicBezTo>
                  <a:lnTo>
                    <a:pt x="65993" y="999955"/>
                  </a:lnTo>
                  <a:cubicBezTo>
                    <a:pt x="48491" y="999955"/>
                    <a:pt x="31705" y="993002"/>
                    <a:pt x="19329" y="980626"/>
                  </a:cubicBezTo>
                  <a:cubicBezTo>
                    <a:pt x="6953" y="968250"/>
                    <a:pt x="0" y="951464"/>
                    <a:pt x="0" y="933962"/>
                  </a:cubicBezTo>
                  <a:lnTo>
                    <a:pt x="0" y="65993"/>
                  </a:lnTo>
                  <a:cubicBezTo>
                    <a:pt x="0" y="48491"/>
                    <a:pt x="6953" y="31705"/>
                    <a:pt x="19329" y="19329"/>
                  </a:cubicBezTo>
                  <a:cubicBezTo>
                    <a:pt x="31705" y="6953"/>
                    <a:pt x="48491" y="0"/>
                    <a:pt x="6599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698680" cy="1047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9" name="Freeform 39"/>
          <p:cNvSpPr/>
          <p:nvPr/>
        </p:nvSpPr>
        <p:spPr>
          <a:xfrm>
            <a:off x="11050028" y="3638482"/>
            <a:ext cx="2940815" cy="1879860"/>
          </a:xfrm>
          <a:custGeom>
            <a:avLst/>
            <a:gdLst/>
            <a:ahLst/>
            <a:cxnLst/>
            <a:rect l="l" t="t" r="r" b="b"/>
            <a:pathLst>
              <a:path w="2940815" h="1879860">
                <a:moveTo>
                  <a:pt x="0" y="0"/>
                </a:moveTo>
                <a:lnTo>
                  <a:pt x="2940816" y="0"/>
                </a:lnTo>
                <a:lnTo>
                  <a:pt x="2940816" y="1879860"/>
                </a:lnTo>
                <a:lnTo>
                  <a:pt x="0" y="18798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40" name="Group 40"/>
          <p:cNvGrpSpPr/>
          <p:nvPr/>
        </p:nvGrpSpPr>
        <p:grpSpPr>
          <a:xfrm>
            <a:off x="14515985" y="3616430"/>
            <a:ext cx="2698215" cy="3861701"/>
            <a:chOff x="0" y="0"/>
            <a:chExt cx="698680" cy="99995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98680" cy="999955"/>
            </a:xfrm>
            <a:custGeom>
              <a:avLst/>
              <a:gdLst/>
              <a:ahLst/>
              <a:cxnLst/>
              <a:rect l="l" t="t" r="r" b="b"/>
              <a:pathLst>
                <a:path w="698680" h="999955">
                  <a:moveTo>
                    <a:pt x="65993" y="0"/>
                  </a:moveTo>
                  <a:lnTo>
                    <a:pt x="632687" y="0"/>
                  </a:lnTo>
                  <a:cubicBezTo>
                    <a:pt x="650190" y="0"/>
                    <a:pt x="666975" y="6953"/>
                    <a:pt x="679351" y="19329"/>
                  </a:cubicBezTo>
                  <a:cubicBezTo>
                    <a:pt x="691727" y="31705"/>
                    <a:pt x="698680" y="48491"/>
                    <a:pt x="698680" y="65993"/>
                  </a:cubicBezTo>
                  <a:lnTo>
                    <a:pt x="698680" y="933962"/>
                  </a:lnTo>
                  <a:cubicBezTo>
                    <a:pt x="698680" y="951464"/>
                    <a:pt x="691727" y="968250"/>
                    <a:pt x="679351" y="980626"/>
                  </a:cubicBezTo>
                  <a:cubicBezTo>
                    <a:pt x="666975" y="993002"/>
                    <a:pt x="650190" y="999955"/>
                    <a:pt x="632687" y="999955"/>
                  </a:cubicBezTo>
                  <a:lnTo>
                    <a:pt x="65993" y="999955"/>
                  </a:lnTo>
                  <a:cubicBezTo>
                    <a:pt x="48491" y="999955"/>
                    <a:pt x="31705" y="993002"/>
                    <a:pt x="19329" y="980626"/>
                  </a:cubicBezTo>
                  <a:cubicBezTo>
                    <a:pt x="6953" y="968250"/>
                    <a:pt x="0" y="951464"/>
                    <a:pt x="0" y="933962"/>
                  </a:cubicBezTo>
                  <a:lnTo>
                    <a:pt x="0" y="65993"/>
                  </a:lnTo>
                  <a:cubicBezTo>
                    <a:pt x="0" y="48491"/>
                    <a:pt x="6953" y="31705"/>
                    <a:pt x="19329" y="19329"/>
                  </a:cubicBezTo>
                  <a:cubicBezTo>
                    <a:pt x="31705" y="6953"/>
                    <a:pt x="48491" y="0"/>
                    <a:pt x="6599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698680" cy="1047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3" name="Freeform 43"/>
          <p:cNvSpPr/>
          <p:nvPr/>
        </p:nvSpPr>
        <p:spPr>
          <a:xfrm>
            <a:off x="14394685" y="2667000"/>
            <a:ext cx="2940815" cy="1879860"/>
          </a:xfrm>
          <a:custGeom>
            <a:avLst/>
            <a:gdLst/>
            <a:ahLst/>
            <a:cxnLst/>
            <a:rect l="l" t="t" r="r" b="b"/>
            <a:pathLst>
              <a:path w="2940815" h="1879860">
                <a:moveTo>
                  <a:pt x="0" y="0"/>
                </a:moveTo>
                <a:lnTo>
                  <a:pt x="2940815" y="0"/>
                </a:lnTo>
                <a:lnTo>
                  <a:pt x="2940815" y="1879860"/>
                </a:lnTo>
                <a:lnTo>
                  <a:pt x="0" y="18798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2266557" y="2873379"/>
            <a:ext cx="439820" cy="428625"/>
          </a:xfrm>
          <a:custGeom>
            <a:avLst/>
            <a:gdLst/>
            <a:ahLst/>
            <a:cxnLst/>
            <a:rect l="l" t="t" r="r" b="b"/>
            <a:pathLst>
              <a:path w="439820" h="428625">
                <a:moveTo>
                  <a:pt x="0" y="0"/>
                </a:moveTo>
                <a:lnTo>
                  <a:pt x="439820" y="0"/>
                </a:lnTo>
                <a:lnTo>
                  <a:pt x="43982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5" name="Freeform 45"/>
          <p:cNvSpPr/>
          <p:nvPr/>
        </p:nvSpPr>
        <p:spPr>
          <a:xfrm>
            <a:off x="5658115" y="3884515"/>
            <a:ext cx="346017" cy="428625"/>
          </a:xfrm>
          <a:custGeom>
            <a:avLst/>
            <a:gdLst/>
            <a:ahLst/>
            <a:cxnLst/>
            <a:rect l="l" t="t" r="r" b="b"/>
            <a:pathLst>
              <a:path w="346017" h="428625">
                <a:moveTo>
                  <a:pt x="0" y="0"/>
                </a:moveTo>
                <a:lnTo>
                  <a:pt x="346017" y="0"/>
                </a:lnTo>
                <a:lnTo>
                  <a:pt x="346017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6" name="Freeform 46"/>
          <p:cNvSpPr/>
          <p:nvPr/>
        </p:nvSpPr>
        <p:spPr>
          <a:xfrm>
            <a:off x="12312748" y="3884515"/>
            <a:ext cx="415377" cy="428625"/>
          </a:xfrm>
          <a:custGeom>
            <a:avLst/>
            <a:gdLst/>
            <a:ahLst/>
            <a:cxnLst/>
            <a:rect l="l" t="t" r="r" b="b"/>
            <a:pathLst>
              <a:path w="415377" h="428625">
                <a:moveTo>
                  <a:pt x="0" y="0"/>
                </a:moveTo>
                <a:lnTo>
                  <a:pt x="415376" y="0"/>
                </a:lnTo>
                <a:lnTo>
                  <a:pt x="415376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7" name="Freeform 47"/>
          <p:cNvSpPr/>
          <p:nvPr/>
        </p:nvSpPr>
        <p:spPr>
          <a:xfrm>
            <a:off x="15603155" y="2937673"/>
            <a:ext cx="523875" cy="300038"/>
          </a:xfrm>
          <a:custGeom>
            <a:avLst/>
            <a:gdLst/>
            <a:ahLst/>
            <a:cxnLst/>
            <a:rect l="l" t="t" r="r" b="b"/>
            <a:pathLst>
              <a:path w="523875" h="300038">
                <a:moveTo>
                  <a:pt x="0" y="0"/>
                </a:moveTo>
                <a:lnTo>
                  <a:pt x="523875" y="0"/>
                </a:lnTo>
                <a:lnTo>
                  <a:pt x="523875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9" name="TextBox 49"/>
          <p:cNvSpPr txBox="1"/>
          <p:nvPr/>
        </p:nvSpPr>
        <p:spPr>
          <a:xfrm>
            <a:off x="1361894" y="6674254"/>
            <a:ext cx="2249146" cy="58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56E11B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rPr>
              <a:t>01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663182" y="5174372"/>
            <a:ext cx="2517048" cy="2712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  <a:sym typeface="+mn-ea"/>
              </a:rPr>
              <a:t>Implement 10+ KPIs Employee Count, Attrition rate, Avg Hourly Rate, Performance Rating etc.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Calibri" panose="020F0502020204030204" pitchFamily="34" charset="-122"/>
              <a:cs typeface="Arial" panose="020B0604020202020204" pitchFamily="34" charset="0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4706550" y="7834106"/>
            <a:ext cx="2249146" cy="58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C267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rPr>
              <a:t>02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318526" y="4305300"/>
            <a:ext cx="2335882" cy="1789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  <a:sym typeface="+mn-ea"/>
              </a:rPr>
              <a:t>Build a scalable HR analytics solution for HR business ecosystem.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3714750" y="885825"/>
            <a:ext cx="10858500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Project Summary</a:t>
            </a:r>
            <a:endParaRPr lang="en-US" sz="5400" b="1" spc="862" dirty="0">
              <a:solidFill>
                <a:srgbClr val="00B050"/>
              </a:solidFill>
              <a:latin typeface="Arial" panose="020B0604020202020204" pitchFamily="34" charset="0"/>
              <a:ea typeface="Canva Sans" panose="020B0503030501040103"/>
              <a:cs typeface="Arial" panose="020B0604020202020204" pitchFamily="34" charset="0"/>
              <a:sym typeface="Canva Sans" panose="020B0503030501040103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11352495" y="5219700"/>
            <a:ext cx="2335882" cy="1789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  <a:sym typeface="+mn-ea"/>
              </a:rPr>
              <a:t>Enable data-driven decisions for different reason for attritions.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14697151" y="4229100"/>
            <a:ext cx="2335882" cy="2251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  <a:sym typeface="+mn-ea"/>
              </a:rPr>
              <a:t>Validate data accuracy through end-to-end QA between database and dashboards.</a:t>
            </a:r>
          </a:p>
        </p:txBody>
      </p:sp>
      <p:sp>
        <p:nvSpPr>
          <p:cNvPr id="60" name="Freeform 60"/>
          <p:cNvSpPr/>
          <p:nvPr/>
        </p:nvSpPr>
        <p:spPr>
          <a:xfrm rot="5400000">
            <a:off x="8842983" y="7956870"/>
            <a:ext cx="665593" cy="2698215"/>
          </a:xfrm>
          <a:custGeom>
            <a:avLst/>
            <a:gdLst/>
            <a:ahLst/>
            <a:cxnLst/>
            <a:rect l="l" t="t" r="r" b="b"/>
            <a:pathLst>
              <a:path w="665593" h="2698215">
                <a:moveTo>
                  <a:pt x="0" y="0"/>
                </a:moveTo>
                <a:lnTo>
                  <a:pt x="665593" y="0"/>
                </a:lnTo>
                <a:lnTo>
                  <a:pt x="665593" y="2698215"/>
                </a:lnTo>
                <a:lnTo>
                  <a:pt x="0" y="2698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77632"/>
            </a:stretch>
          </a:blipFill>
        </p:spPr>
      </p:sp>
      <p:grpSp>
        <p:nvGrpSpPr>
          <p:cNvPr id="61" name="Group 61"/>
          <p:cNvGrpSpPr/>
          <p:nvPr/>
        </p:nvGrpSpPr>
        <p:grpSpPr>
          <a:xfrm>
            <a:off x="7826672" y="5301980"/>
            <a:ext cx="2698215" cy="3861701"/>
            <a:chOff x="0" y="0"/>
            <a:chExt cx="698680" cy="999955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698680" cy="999955"/>
            </a:xfrm>
            <a:custGeom>
              <a:avLst/>
              <a:gdLst/>
              <a:ahLst/>
              <a:cxnLst/>
              <a:rect l="l" t="t" r="r" b="b"/>
              <a:pathLst>
                <a:path w="698680" h="999955">
                  <a:moveTo>
                    <a:pt x="65993" y="0"/>
                  </a:moveTo>
                  <a:lnTo>
                    <a:pt x="632687" y="0"/>
                  </a:lnTo>
                  <a:cubicBezTo>
                    <a:pt x="650190" y="0"/>
                    <a:pt x="666975" y="6953"/>
                    <a:pt x="679351" y="19329"/>
                  </a:cubicBezTo>
                  <a:cubicBezTo>
                    <a:pt x="691727" y="31705"/>
                    <a:pt x="698680" y="48491"/>
                    <a:pt x="698680" y="65993"/>
                  </a:cubicBezTo>
                  <a:lnTo>
                    <a:pt x="698680" y="933962"/>
                  </a:lnTo>
                  <a:cubicBezTo>
                    <a:pt x="698680" y="951464"/>
                    <a:pt x="691727" y="968250"/>
                    <a:pt x="679351" y="980626"/>
                  </a:cubicBezTo>
                  <a:cubicBezTo>
                    <a:pt x="666975" y="993002"/>
                    <a:pt x="650190" y="999955"/>
                    <a:pt x="632687" y="999955"/>
                  </a:cubicBezTo>
                  <a:lnTo>
                    <a:pt x="65993" y="999955"/>
                  </a:lnTo>
                  <a:cubicBezTo>
                    <a:pt x="48491" y="999955"/>
                    <a:pt x="31705" y="993002"/>
                    <a:pt x="19329" y="980626"/>
                  </a:cubicBezTo>
                  <a:cubicBezTo>
                    <a:pt x="6953" y="968250"/>
                    <a:pt x="0" y="951464"/>
                    <a:pt x="0" y="933962"/>
                  </a:cubicBezTo>
                  <a:lnTo>
                    <a:pt x="0" y="65993"/>
                  </a:lnTo>
                  <a:cubicBezTo>
                    <a:pt x="0" y="48491"/>
                    <a:pt x="6953" y="31705"/>
                    <a:pt x="19329" y="19329"/>
                  </a:cubicBezTo>
                  <a:cubicBezTo>
                    <a:pt x="31705" y="6953"/>
                    <a:pt x="48491" y="0"/>
                    <a:pt x="6599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0" y="-47625"/>
              <a:ext cx="698680" cy="1047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4" name="Freeform 64"/>
          <p:cNvSpPr/>
          <p:nvPr/>
        </p:nvSpPr>
        <p:spPr>
          <a:xfrm>
            <a:off x="7705372" y="4352550"/>
            <a:ext cx="2940815" cy="1879860"/>
          </a:xfrm>
          <a:custGeom>
            <a:avLst/>
            <a:gdLst/>
            <a:ahLst/>
            <a:cxnLst/>
            <a:rect l="l" t="t" r="r" b="b"/>
            <a:pathLst>
              <a:path w="2940815" h="1879860">
                <a:moveTo>
                  <a:pt x="0" y="0"/>
                </a:moveTo>
                <a:lnTo>
                  <a:pt x="2940815" y="0"/>
                </a:lnTo>
                <a:lnTo>
                  <a:pt x="2940815" y="1879860"/>
                </a:lnTo>
                <a:lnTo>
                  <a:pt x="0" y="187986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65" name="Freeform 65"/>
          <p:cNvSpPr/>
          <p:nvPr/>
        </p:nvSpPr>
        <p:spPr>
          <a:xfrm>
            <a:off x="8960685" y="4587912"/>
            <a:ext cx="430189" cy="428625"/>
          </a:xfrm>
          <a:custGeom>
            <a:avLst/>
            <a:gdLst/>
            <a:ahLst/>
            <a:cxnLst/>
            <a:rect l="l" t="t" r="r" b="b"/>
            <a:pathLst>
              <a:path w="430189" h="428625">
                <a:moveTo>
                  <a:pt x="0" y="0"/>
                </a:moveTo>
                <a:lnTo>
                  <a:pt x="430189" y="0"/>
                </a:lnTo>
                <a:lnTo>
                  <a:pt x="430189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7" name="TextBox 67"/>
          <p:cNvSpPr txBox="1"/>
          <p:nvPr/>
        </p:nvSpPr>
        <p:spPr>
          <a:xfrm>
            <a:off x="8007839" y="6057900"/>
            <a:ext cx="2335882" cy="2251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  <a:sym typeface="+mn-ea"/>
              </a:rPr>
              <a:t>Integrate Excel → SQL → Tableau → Power BI in a unified, end-to-end data pipeline.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8051207" y="8359804"/>
            <a:ext cx="2249146" cy="58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7B80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rPr>
              <a:t>03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395863" y="7649714"/>
            <a:ext cx="2249146" cy="58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4259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rPr>
              <a:t>04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4740519" y="6674254"/>
            <a:ext cx="2249146" cy="58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38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rPr>
              <a:t>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35372" y="3652726"/>
            <a:ext cx="7143750" cy="818284"/>
          </a:xfrm>
          <a:custGeom>
            <a:avLst/>
            <a:gdLst/>
            <a:ahLst/>
            <a:cxnLst/>
            <a:rect l="l" t="t" r="r" b="b"/>
            <a:pathLst>
              <a:path w="7143750" h="818284">
                <a:moveTo>
                  <a:pt x="0" y="0"/>
                </a:moveTo>
                <a:lnTo>
                  <a:pt x="7143750" y="0"/>
                </a:lnTo>
                <a:lnTo>
                  <a:pt x="7143750" y="818284"/>
                </a:lnTo>
                <a:lnTo>
                  <a:pt x="0" y="818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35372" y="2669109"/>
            <a:ext cx="7143750" cy="1392759"/>
            <a:chOff x="0" y="0"/>
            <a:chExt cx="1881481" cy="366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81481" cy="366817"/>
            </a:xfrm>
            <a:custGeom>
              <a:avLst/>
              <a:gdLst/>
              <a:ahLst/>
              <a:cxnLst/>
              <a:rect l="l" t="t" r="r" b="b"/>
              <a:pathLst>
                <a:path w="1881481" h="366817">
                  <a:moveTo>
                    <a:pt x="21675" y="0"/>
                  </a:moveTo>
                  <a:lnTo>
                    <a:pt x="1859807" y="0"/>
                  </a:lnTo>
                  <a:cubicBezTo>
                    <a:pt x="1871777" y="0"/>
                    <a:pt x="1881481" y="9704"/>
                    <a:pt x="1881481" y="21675"/>
                  </a:cubicBezTo>
                  <a:lnTo>
                    <a:pt x="1881481" y="345143"/>
                  </a:lnTo>
                  <a:cubicBezTo>
                    <a:pt x="1881481" y="357113"/>
                    <a:pt x="1871777" y="366817"/>
                    <a:pt x="1859807" y="366817"/>
                  </a:cubicBezTo>
                  <a:lnTo>
                    <a:pt x="21675" y="366817"/>
                  </a:lnTo>
                  <a:cubicBezTo>
                    <a:pt x="9704" y="366817"/>
                    <a:pt x="0" y="357113"/>
                    <a:pt x="0" y="345143"/>
                  </a:cubicBezTo>
                  <a:lnTo>
                    <a:pt x="0" y="21675"/>
                  </a:lnTo>
                  <a:cubicBezTo>
                    <a:pt x="0" y="9704"/>
                    <a:pt x="9704" y="0"/>
                    <a:pt x="216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81481" cy="414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952497" y="2256595"/>
            <a:ext cx="3771895" cy="830997"/>
          </a:xfrm>
          <a:custGeom>
            <a:avLst/>
            <a:gdLst/>
            <a:ahLst/>
            <a:cxnLst/>
            <a:rect l="l" t="t" r="r" b="b"/>
            <a:pathLst>
              <a:path w="3614381" h="690018">
                <a:moveTo>
                  <a:pt x="3614381" y="0"/>
                </a:moveTo>
                <a:lnTo>
                  <a:pt x="0" y="0"/>
                </a:lnTo>
                <a:lnTo>
                  <a:pt x="0" y="690018"/>
                </a:lnTo>
                <a:lnTo>
                  <a:pt x="3614381" y="690018"/>
                </a:lnTo>
                <a:lnTo>
                  <a:pt x="361438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0191750" y="3652726"/>
            <a:ext cx="7143750" cy="818284"/>
          </a:xfrm>
          <a:custGeom>
            <a:avLst/>
            <a:gdLst/>
            <a:ahLst/>
            <a:cxnLst/>
            <a:rect l="l" t="t" r="r" b="b"/>
            <a:pathLst>
              <a:path w="7143750" h="818284">
                <a:moveTo>
                  <a:pt x="0" y="0"/>
                </a:moveTo>
                <a:lnTo>
                  <a:pt x="7143750" y="0"/>
                </a:lnTo>
                <a:lnTo>
                  <a:pt x="7143750" y="818284"/>
                </a:lnTo>
                <a:lnTo>
                  <a:pt x="0" y="818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191750" y="2669109"/>
            <a:ext cx="7143750" cy="1392759"/>
            <a:chOff x="0" y="0"/>
            <a:chExt cx="1881481" cy="36681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81481" cy="366817"/>
            </a:xfrm>
            <a:custGeom>
              <a:avLst/>
              <a:gdLst/>
              <a:ahLst/>
              <a:cxnLst/>
              <a:rect l="l" t="t" r="r" b="b"/>
              <a:pathLst>
                <a:path w="1881481" h="366817">
                  <a:moveTo>
                    <a:pt x="21675" y="0"/>
                  </a:moveTo>
                  <a:lnTo>
                    <a:pt x="1859807" y="0"/>
                  </a:lnTo>
                  <a:cubicBezTo>
                    <a:pt x="1871777" y="0"/>
                    <a:pt x="1881481" y="9704"/>
                    <a:pt x="1881481" y="21675"/>
                  </a:cubicBezTo>
                  <a:lnTo>
                    <a:pt x="1881481" y="345143"/>
                  </a:lnTo>
                  <a:cubicBezTo>
                    <a:pt x="1881481" y="357113"/>
                    <a:pt x="1871777" y="366817"/>
                    <a:pt x="1859807" y="366817"/>
                  </a:cubicBezTo>
                  <a:lnTo>
                    <a:pt x="21675" y="366817"/>
                  </a:lnTo>
                  <a:cubicBezTo>
                    <a:pt x="9704" y="366817"/>
                    <a:pt x="0" y="357113"/>
                    <a:pt x="0" y="345143"/>
                  </a:cubicBezTo>
                  <a:lnTo>
                    <a:pt x="0" y="21675"/>
                  </a:lnTo>
                  <a:cubicBezTo>
                    <a:pt x="0" y="9704"/>
                    <a:pt x="9704" y="0"/>
                    <a:pt x="216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881481" cy="414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 flipH="1">
            <a:off x="9408878" y="2324100"/>
            <a:ext cx="3614381" cy="690018"/>
          </a:xfrm>
          <a:custGeom>
            <a:avLst/>
            <a:gdLst/>
            <a:ahLst/>
            <a:cxnLst/>
            <a:rect l="l" t="t" r="r" b="b"/>
            <a:pathLst>
              <a:path w="3614381" h="690018">
                <a:moveTo>
                  <a:pt x="3614381" y="0"/>
                </a:moveTo>
                <a:lnTo>
                  <a:pt x="0" y="0"/>
                </a:lnTo>
                <a:lnTo>
                  <a:pt x="0" y="690018"/>
                </a:lnTo>
                <a:lnTo>
                  <a:pt x="3614381" y="690018"/>
                </a:lnTo>
                <a:lnTo>
                  <a:pt x="361438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35372" y="5752011"/>
            <a:ext cx="7143750" cy="818284"/>
          </a:xfrm>
          <a:custGeom>
            <a:avLst/>
            <a:gdLst/>
            <a:ahLst/>
            <a:cxnLst/>
            <a:rect l="l" t="t" r="r" b="b"/>
            <a:pathLst>
              <a:path w="7143750" h="818284">
                <a:moveTo>
                  <a:pt x="0" y="0"/>
                </a:moveTo>
                <a:lnTo>
                  <a:pt x="7143750" y="0"/>
                </a:lnTo>
                <a:lnTo>
                  <a:pt x="7143750" y="818284"/>
                </a:lnTo>
                <a:lnTo>
                  <a:pt x="0" y="818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735372" y="4768394"/>
            <a:ext cx="7143750" cy="1392759"/>
            <a:chOff x="0" y="0"/>
            <a:chExt cx="1881481" cy="36681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81481" cy="366817"/>
            </a:xfrm>
            <a:custGeom>
              <a:avLst/>
              <a:gdLst/>
              <a:ahLst/>
              <a:cxnLst/>
              <a:rect l="l" t="t" r="r" b="b"/>
              <a:pathLst>
                <a:path w="1881481" h="366817">
                  <a:moveTo>
                    <a:pt x="21675" y="0"/>
                  </a:moveTo>
                  <a:lnTo>
                    <a:pt x="1859807" y="0"/>
                  </a:lnTo>
                  <a:cubicBezTo>
                    <a:pt x="1871777" y="0"/>
                    <a:pt x="1881481" y="9704"/>
                    <a:pt x="1881481" y="21675"/>
                  </a:cubicBezTo>
                  <a:lnTo>
                    <a:pt x="1881481" y="345143"/>
                  </a:lnTo>
                  <a:cubicBezTo>
                    <a:pt x="1881481" y="357113"/>
                    <a:pt x="1871777" y="366817"/>
                    <a:pt x="1859807" y="366817"/>
                  </a:cubicBezTo>
                  <a:lnTo>
                    <a:pt x="21675" y="366817"/>
                  </a:lnTo>
                  <a:cubicBezTo>
                    <a:pt x="9704" y="366817"/>
                    <a:pt x="0" y="357113"/>
                    <a:pt x="0" y="345143"/>
                  </a:cubicBezTo>
                  <a:lnTo>
                    <a:pt x="0" y="21675"/>
                  </a:lnTo>
                  <a:cubicBezTo>
                    <a:pt x="0" y="9704"/>
                    <a:pt x="9704" y="0"/>
                    <a:pt x="216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881481" cy="414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 flipH="1">
            <a:off x="866252" y="4342359"/>
            <a:ext cx="4618319" cy="771044"/>
          </a:xfrm>
          <a:custGeom>
            <a:avLst/>
            <a:gdLst/>
            <a:ahLst/>
            <a:cxnLst/>
            <a:rect l="l" t="t" r="r" b="b"/>
            <a:pathLst>
              <a:path w="3614381" h="690018">
                <a:moveTo>
                  <a:pt x="3614381" y="0"/>
                </a:moveTo>
                <a:lnTo>
                  <a:pt x="0" y="0"/>
                </a:lnTo>
                <a:lnTo>
                  <a:pt x="0" y="690018"/>
                </a:lnTo>
                <a:lnTo>
                  <a:pt x="3614381" y="690018"/>
                </a:lnTo>
                <a:lnTo>
                  <a:pt x="361438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0191750" y="5752011"/>
            <a:ext cx="7143750" cy="818284"/>
          </a:xfrm>
          <a:custGeom>
            <a:avLst/>
            <a:gdLst/>
            <a:ahLst/>
            <a:cxnLst/>
            <a:rect l="l" t="t" r="r" b="b"/>
            <a:pathLst>
              <a:path w="7143750" h="818284">
                <a:moveTo>
                  <a:pt x="0" y="0"/>
                </a:moveTo>
                <a:lnTo>
                  <a:pt x="7143750" y="0"/>
                </a:lnTo>
                <a:lnTo>
                  <a:pt x="7143750" y="818284"/>
                </a:lnTo>
                <a:lnTo>
                  <a:pt x="0" y="818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0191750" y="4768394"/>
            <a:ext cx="7143750" cy="1392759"/>
            <a:chOff x="0" y="0"/>
            <a:chExt cx="1881481" cy="36681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881481" cy="366817"/>
            </a:xfrm>
            <a:custGeom>
              <a:avLst/>
              <a:gdLst/>
              <a:ahLst/>
              <a:cxnLst/>
              <a:rect l="l" t="t" r="r" b="b"/>
              <a:pathLst>
                <a:path w="1881481" h="366817">
                  <a:moveTo>
                    <a:pt x="21675" y="0"/>
                  </a:moveTo>
                  <a:lnTo>
                    <a:pt x="1859807" y="0"/>
                  </a:lnTo>
                  <a:cubicBezTo>
                    <a:pt x="1871777" y="0"/>
                    <a:pt x="1881481" y="9704"/>
                    <a:pt x="1881481" y="21675"/>
                  </a:cubicBezTo>
                  <a:lnTo>
                    <a:pt x="1881481" y="345143"/>
                  </a:lnTo>
                  <a:cubicBezTo>
                    <a:pt x="1881481" y="357113"/>
                    <a:pt x="1871777" y="366817"/>
                    <a:pt x="1859807" y="366817"/>
                  </a:cubicBezTo>
                  <a:lnTo>
                    <a:pt x="21675" y="366817"/>
                  </a:lnTo>
                  <a:cubicBezTo>
                    <a:pt x="9704" y="366817"/>
                    <a:pt x="0" y="357113"/>
                    <a:pt x="0" y="345143"/>
                  </a:cubicBezTo>
                  <a:lnTo>
                    <a:pt x="0" y="21675"/>
                  </a:lnTo>
                  <a:cubicBezTo>
                    <a:pt x="0" y="9704"/>
                    <a:pt x="9704" y="0"/>
                    <a:pt x="216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881481" cy="414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" name="Freeform 21"/>
          <p:cNvSpPr/>
          <p:nvPr/>
        </p:nvSpPr>
        <p:spPr>
          <a:xfrm flipH="1">
            <a:off x="9408877" y="4423385"/>
            <a:ext cx="4002322" cy="690018"/>
          </a:xfrm>
          <a:custGeom>
            <a:avLst/>
            <a:gdLst/>
            <a:ahLst/>
            <a:cxnLst/>
            <a:rect l="l" t="t" r="r" b="b"/>
            <a:pathLst>
              <a:path w="3614381" h="690018">
                <a:moveTo>
                  <a:pt x="3614381" y="0"/>
                </a:moveTo>
                <a:lnTo>
                  <a:pt x="0" y="0"/>
                </a:lnTo>
                <a:lnTo>
                  <a:pt x="0" y="690018"/>
                </a:lnTo>
                <a:lnTo>
                  <a:pt x="3614381" y="690018"/>
                </a:lnTo>
                <a:lnTo>
                  <a:pt x="3614381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735372" y="7847511"/>
            <a:ext cx="7143750" cy="818284"/>
          </a:xfrm>
          <a:custGeom>
            <a:avLst/>
            <a:gdLst/>
            <a:ahLst/>
            <a:cxnLst/>
            <a:rect l="l" t="t" r="r" b="b"/>
            <a:pathLst>
              <a:path w="7143750" h="818284">
                <a:moveTo>
                  <a:pt x="0" y="0"/>
                </a:moveTo>
                <a:lnTo>
                  <a:pt x="7143750" y="0"/>
                </a:lnTo>
                <a:lnTo>
                  <a:pt x="7143750" y="818284"/>
                </a:lnTo>
                <a:lnTo>
                  <a:pt x="0" y="818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735372" y="6863894"/>
            <a:ext cx="7143750" cy="1392759"/>
            <a:chOff x="0" y="0"/>
            <a:chExt cx="1881481" cy="36681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881481" cy="366817"/>
            </a:xfrm>
            <a:custGeom>
              <a:avLst/>
              <a:gdLst/>
              <a:ahLst/>
              <a:cxnLst/>
              <a:rect l="l" t="t" r="r" b="b"/>
              <a:pathLst>
                <a:path w="1881481" h="366817">
                  <a:moveTo>
                    <a:pt x="21675" y="0"/>
                  </a:moveTo>
                  <a:lnTo>
                    <a:pt x="1859807" y="0"/>
                  </a:lnTo>
                  <a:cubicBezTo>
                    <a:pt x="1871777" y="0"/>
                    <a:pt x="1881481" y="9704"/>
                    <a:pt x="1881481" y="21675"/>
                  </a:cubicBezTo>
                  <a:lnTo>
                    <a:pt x="1881481" y="345143"/>
                  </a:lnTo>
                  <a:cubicBezTo>
                    <a:pt x="1881481" y="357113"/>
                    <a:pt x="1871777" y="366817"/>
                    <a:pt x="1859807" y="366817"/>
                  </a:cubicBezTo>
                  <a:lnTo>
                    <a:pt x="21675" y="366817"/>
                  </a:lnTo>
                  <a:cubicBezTo>
                    <a:pt x="9704" y="366817"/>
                    <a:pt x="0" y="357113"/>
                    <a:pt x="0" y="345143"/>
                  </a:cubicBezTo>
                  <a:lnTo>
                    <a:pt x="0" y="21675"/>
                  </a:lnTo>
                  <a:cubicBezTo>
                    <a:pt x="0" y="9704"/>
                    <a:pt x="9704" y="0"/>
                    <a:pt x="216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881481" cy="414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6" name="Freeform 26"/>
          <p:cNvSpPr/>
          <p:nvPr/>
        </p:nvSpPr>
        <p:spPr>
          <a:xfrm flipH="1">
            <a:off x="866249" y="6454752"/>
            <a:ext cx="4467745" cy="754152"/>
          </a:xfrm>
          <a:custGeom>
            <a:avLst/>
            <a:gdLst/>
            <a:ahLst/>
            <a:cxnLst/>
            <a:rect l="l" t="t" r="r" b="b"/>
            <a:pathLst>
              <a:path w="3614381" h="690018">
                <a:moveTo>
                  <a:pt x="3614381" y="0"/>
                </a:moveTo>
                <a:lnTo>
                  <a:pt x="0" y="0"/>
                </a:lnTo>
                <a:lnTo>
                  <a:pt x="0" y="690018"/>
                </a:lnTo>
                <a:lnTo>
                  <a:pt x="3614381" y="690018"/>
                </a:lnTo>
                <a:lnTo>
                  <a:pt x="3614381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7" name="Freeform 27"/>
          <p:cNvSpPr/>
          <p:nvPr/>
        </p:nvSpPr>
        <p:spPr>
          <a:xfrm>
            <a:off x="10191750" y="7847511"/>
            <a:ext cx="7143750" cy="818284"/>
          </a:xfrm>
          <a:custGeom>
            <a:avLst/>
            <a:gdLst/>
            <a:ahLst/>
            <a:cxnLst/>
            <a:rect l="l" t="t" r="r" b="b"/>
            <a:pathLst>
              <a:path w="7143750" h="818284">
                <a:moveTo>
                  <a:pt x="0" y="0"/>
                </a:moveTo>
                <a:lnTo>
                  <a:pt x="7143750" y="0"/>
                </a:lnTo>
                <a:lnTo>
                  <a:pt x="7143750" y="818284"/>
                </a:lnTo>
                <a:lnTo>
                  <a:pt x="0" y="818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10191750" y="6863895"/>
            <a:ext cx="7143750" cy="1618186"/>
            <a:chOff x="0" y="0"/>
            <a:chExt cx="1881481" cy="36681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881481" cy="366817"/>
            </a:xfrm>
            <a:custGeom>
              <a:avLst/>
              <a:gdLst/>
              <a:ahLst/>
              <a:cxnLst/>
              <a:rect l="l" t="t" r="r" b="b"/>
              <a:pathLst>
                <a:path w="1881481" h="366817">
                  <a:moveTo>
                    <a:pt x="21675" y="0"/>
                  </a:moveTo>
                  <a:lnTo>
                    <a:pt x="1859807" y="0"/>
                  </a:lnTo>
                  <a:cubicBezTo>
                    <a:pt x="1871777" y="0"/>
                    <a:pt x="1881481" y="9704"/>
                    <a:pt x="1881481" y="21675"/>
                  </a:cubicBezTo>
                  <a:lnTo>
                    <a:pt x="1881481" y="345143"/>
                  </a:lnTo>
                  <a:cubicBezTo>
                    <a:pt x="1881481" y="357113"/>
                    <a:pt x="1871777" y="366817"/>
                    <a:pt x="1859807" y="366817"/>
                  </a:cubicBezTo>
                  <a:lnTo>
                    <a:pt x="21675" y="366817"/>
                  </a:lnTo>
                  <a:cubicBezTo>
                    <a:pt x="9704" y="366817"/>
                    <a:pt x="0" y="357113"/>
                    <a:pt x="0" y="345143"/>
                  </a:cubicBezTo>
                  <a:lnTo>
                    <a:pt x="0" y="21675"/>
                  </a:lnTo>
                  <a:cubicBezTo>
                    <a:pt x="0" y="9704"/>
                    <a:pt x="9704" y="0"/>
                    <a:pt x="216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1881481" cy="414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1" name="Freeform 31"/>
          <p:cNvSpPr/>
          <p:nvPr/>
        </p:nvSpPr>
        <p:spPr>
          <a:xfrm flipH="1">
            <a:off x="9408877" y="6518885"/>
            <a:ext cx="4230919" cy="690018"/>
          </a:xfrm>
          <a:custGeom>
            <a:avLst/>
            <a:gdLst/>
            <a:ahLst/>
            <a:cxnLst/>
            <a:rect l="l" t="t" r="r" b="b"/>
            <a:pathLst>
              <a:path w="3614381" h="690018">
                <a:moveTo>
                  <a:pt x="3614381" y="0"/>
                </a:moveTo>
                <a:lnTo>
                  <a:pt x="0" y="0"/>
                </a:lnTo>
                <a:lnTo>
                  <a:pt x="0" y="690018"/>
                </a:lnTo>
                <a:lnTo>
                  <a:pt x="3614381" y="690018"/>
                </a:lnTo>
                <a:lnTo>
                  <a:pt x="3614381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2" name="AutoShape 32"/>
          <p:cNvSpPr/>
          <p:nvPr/>
        </p:nvSpPr>
        <p:spPr>
          <a:xfrm flipV="1">
            <a:off x="1304114" y="3237565"/>
            <a:ext cx="0" cy="954821"/>
          </a:xfrm>
          <a:prstGeom prst="line">
            <a:avLst/>
          </a:prstGeom>
          <a:ln w="38100" cap="rnd">
            <a:solidFill>
              <a:srgbClr val="C7D2D9"/>
            </a:solidFill>
            <a:prstDash val="lgDash"/>
            <a:headEnd type="oval" w="lg" len="lg"/>
            <a:tailEnd type="oval" w="lg" len="lg"/>
          </a:ln>
        </p:spPr>
      </p:sp>
      <p:sp>
        <p:nvSpPr>
          <p:cNvPr id="33" name="AutoShape 33"/>
          <p:cNvSpPr/>
          <p:nvPr/>
        </p:nvSpPr>
        <p:spPr>
          <a:xfrm flipV="1">
            <a:off x="9767290" y="3237565"/>
            <a:ext cx="0" cy="954821"/>
          </a:xfrm>
          <a:prstGeom prst="line">
            <a:avLst/>
          </a:prstGeom>
          <a:ln w="38100" cap="rnd">
            <a:solidFill>
              <a:srgbClr val="C7D2D9"/>
            </a:solidFill>
            <a:prstDash val="lgDash"/>
            <a:headEnd type="oval" w="lg" len="lg"/>
            <a:tailEnd type="oval" w="lg" len="lg"/>
          </a:ln>
        </p:spPr>
      </p:sp>
      <p:sp>
        <p:nvSpPr>
          <p:cNvPr id="34" name="AutoShape 34"/>
          <p:cNvSpPr/>
          <p:nvPr/>
        </p:nvSpPr>
        <p:spPr>
          <a:xfrm flipV="1">
            <a:off x="1304114" y="5343536"/>
            <a:ext cx="0" cy="954821"/>
          </a:xfrm>
          <a:prstGeom prst="line">
            <a:avLst/>
          </a:prstGeom>
          <a:ln w="38100" cap="rnd">
            <a:solidFill>
              <a:srgbClr val="C7D2D9"/>
            </a:solidFill>
            <a:prstDash val="lgDash"/>
            <a:headEnd type="oval" w="lg" len="lg"/>
            <a:tailEnd type="oval" w="lg" len="lg"/>
          </a:ln>
        </p:spPr>
      </p:sp>
      <p:sp>
        <p:nvSpPr>
          <p:cNvPr id="35" name="AutoShape 35"/>
          <p:cNvSpPr/>
          <p:nvPr/>
        </p:nvSpPr>
        <p:spPr>
          <a:xfrm flipV="1">
            <a:off x="9748240" y="5343536"/>
            <a:ext cx="0" cy="954821"/>
          </a:xfrm>
          <a:prstGeom prst="line">
            <a:avLst/>
          </a:prstGeom>
          <a:ln w="38100" cap="rnd">
            <a:solidFill>
              <a:srgbClr val="C7D2D9"/>
            </a:solidFill>
            <a:prstDash val="lgDash"/>
            <a:headEnd type="oval" w="lg" len="lg"/>
            <a:tailEnd type="oval" w="lg" len="lg"/>
          </a:ln>
        </p:spPr>
      </p:sp>
      <p:sp>
        <p:nvSpPr>
          <p:cNvPr id="36" name="Freeform 36"/>
          <p:cNvSpPr/>
          <p:nvPr/>
        </p:nvSpPr>
        <p:spPr>
          <a:xfrm>
            <a:off x="1113614" y="247860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7" name="Freeform 37"/>
          <p:cNvSpPr/>
          <p:nvPr/>
        </p:nvSpPr>
        <p:spPr>
          <a:xfrm>
            <a:off x="1113614" y="4625726"/>
            <a:ext cx="381000" cy="285335"/>
          </a:xfrm>
          <a:custGeom>
            <a:avLst/>
            <a:gdLst/>
            <a:ahLst/>
            <a:cxnLst/>
            <a:rect l="l" t="t" r="r" b="b"/>
            <a:pathLst>
              <a:path w="381000" h="285335">
                <a:moveTo>
                  <a:pt x="0" y="0"/>
                </a:moveTo>
                <a:lnTo>
                  <a:pt x="381000" y="0"/>
                </a:lnTo>
                <a:lnTo>
                  <a:pt x="381000" y="285336"/>
                </a:lnTo>
                <a:lnTo>
                  <a:pt x="0" y="28533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8" name="Freeform 38"/>
          <p:cNvSpPr/>
          <p:nvPr/>
        </p:nvSpPr>
        <p:spPr>
          <a:xfrm>
            <a:off x="1113614" y="667339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9" name="Freeform 39"/>
          <p:cNvSpPr/>
          <p:nvPr/>
        </p:nvSpPr>
        <p:spPr>
          <a:xfrm>
            <a:off x="9641560" y="2478609"/>
            <a:ext cx="251460" cy="381000"/>
          </a:xfrm>
          <a:custGeom>
            <a:avLst/>
            <a:gdLst/>
            <a:ahLst/>
            <a:cxnLst/>
            <a:rect l="l" t="t" r="r" b="b"/>
            <a:pathLst>
              <a:path w="251460" h="381000">
                <a:moveTo>
                  <a:pt x="0" y="0"/>
                </a:moveTo>
                <a:lnTo>
                  <a:pt x="251460" y="0"/>
                </a:lnTo>
                <a:lnTo>
                  <a:pt x="25146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0" name="Freeform 40"/>
          <p:cNvSpPr/>
          <p:nvPr/>
        </p:nvSpPr>
        <p:spPr>
          <a:xfrm>
            <a:off x="9557740" y="457789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1" name="Freeform 41"/>
          <p:cNvSpPr/>
          <p:nvPr/>
        </p:nvSpPr>
        <p:spPr>
          <a:xfrm>
            <a:off x="9557740" y="6678243"/>
            <a:ext cx="381000" cy="371302"/>
          </a:xfrm>
          <a:custGeom>
            <a:avLst/>
            <a:gdLst/>
            <a:ahLst/>
            <a:cxnLst/>
            <a:rect l="l" t="t" r="r" b="b"/>
            <a:pathLst>
              <a:path w="381000" h="371302">
                <a:moveTo>
                  <a:pt x="0" y="0"/>
                </a:moveTo>
                <a:lnTo>
                  <a:pt x="381000" y="0"/>
                </a:lnTo>
                <a:lnTo>
                  <a:pt x="381000" y="371302"/>
                </a:lnTo>
                <a:lnTo>
                  <a:pt x="0" y="37130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2" name="TextBox 42"/>
          <p:cNvSpPr txBox="1"/>
          <p:nvPr/>
        </p:nvSpPr>
        <p:spPr>
          <a:xfrm>
            <a:off x="1906932" y="2394347"/>
            <a:ext cx="265995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defRPr sz="10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wise </a:t>
            </a:r>
          </a:p>
          <a:p>
            <a:pPr algn="ctr">
              <a:defRPr sz="10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attrition rate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002182" y="3162300"/>
            <a:ext cx="6000750" cy="834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IN" sz="1600" dirty="0"/>
              <a:t>Research &amp; Development experiences the highest employee turnover. Since R&amp;D employees are usually critical resources, this could significantly impact innovation and project delivery.</a:t>
            </a:r>
            <a:endParaRPr lang="en-US" sz="1599" dirty="0">
              <a:solidFill>
                <a:srgbClr val="000000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8121248" y="2726259"/>
            <a:ext cx="567374" cy="29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56E11B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rPr>
              <a:t>01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317479" y="2517304"/>
            <a:ext cx="257175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attrition rate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58561" y="3162300"/>
            <a:ext cx="6000750" cy="834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IN" sz="1600" dirty="0"/>
              <a:t>Employees generally stay around </a:t>
            </a:r>
            <a:r>
              <a:rPr lang="en-IN" sz="1600" b="1" dirty="0"/>
              <a:t>10–11 years</a:t>
            </a:r>
            <a:r>
              <a:rPr lang="en-IN" sz="1600" dirty="0"/>
              <a:t>, indicating good tenure among retained employees. However, despite long average tenure, attrition remains high.</a:t>
            </a:r>
            <a:endParaRPr lang="en-US" sz="1599" dirty="0">
              <a:solidFill>
                <a:srgbClr val="000000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6577626" y="2726259"/>
            <a:ext cx="567374" cy="29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7B80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rPr>
              <a:t>04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906932" y="4457700"/>
            <a:ext cx="335086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Gender Marital Status wise Attrition rate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002182" y="5219700"/>
            <a:ext cx="6000750" cy="82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IN" sz="1600" dirty="0"/>
              <a:t>Married, single, and divorced employees exhibit similar turnover patterns.  Also, HR strategies may therefore need to focus more on job-related factors rather than demographic characteristics.</a:t>
            </a:r>
            <a:endParaRPr lang="en-US" sz="1599" dirty="0">
              <a:solidFill>
                <a:srgbClr val="000000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8121248" y="4825544"/>
            <a:ext cx="567374" cy="29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C267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rPr>
              <a:t>02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339620" y="4513302"/>
            <a:ext cx="361438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2"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 promotion wise attrition rate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0458561" y="5343273"/>
            <a:ext cx="6000750" cy="54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IN" sz="1600" dirty="0"/>
              <a:t>Promotion timing appears to have a limited impact on attrition, as turnover rates remain nearly identical across promotion groups.</a:t>
            </a:r>
            <a:endParaRPr lang="en-US" sz="1599" dirty="0">
              <a:solidFill>
                <a:srgbClr val="000000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6577626" y="4825544"/>
            <a:ext cx="567374" cy="29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4259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rPr>
              <a:t>05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828800" y="6515100"/>
            <a:ext cx="314204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defRPr sz="1000" b="0" i="0" u="none" strike="noStrike" kern="1200" spc="0" baseline="0">
                <a:ln>
                  <a:noFill/>
                </a:ln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Monthly Income wise attrition rate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002182" y="7438773"/>
            <a:ext cx="6000750" cy="54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IN" sz="1600" dirty="0"/>
              <a:t>Attrition is almost identical across all salary groups. Compensation alone may not be the primary reason employees leave.</a:t>
            </a:r>
            <a:endParaRPr lang="en-US" sz="1599" dirty="0">
              <a:solidFill>
                <a:srgbClr val="000000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8121248" y="6921044"/>
            <a:ext cx="567374" cy="29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9D81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rPr>
              <a:t>03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287000" y="6591234"/>
            <a:ext cx="2912958" cy="613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rPr>
              <a:t>Job Role vs Work Life Balance</a:t>
            </a:r>
            <a:endParaRPr lang="en-US" sz="1800" b="1" dirty="0">
              <a:solidFill>
                <a:srgbClr val="FFFFFF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0458561" y="7438773"/>
            <a:ext cx="6000750" cy="834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IN" sz="1600" dirty="0"/>
              <a:t>Work-life balance appears relatively consistent across job roles. Also, Sales Executives show the lowest score (~2.47), which may indicate higher work pressure.</a:t>
            </a:r>
            <a:endParaRPr lang="en-US" sz="1599" dirty="0">
              <a:solidFill>
                <a:srgbClr val="000000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16577626" y="6921044"/>
            <a:ext cx="567374" cy="29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38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rPr>
              <a:t>06</a:t>
            </a:r>
          </a:p>
        </p:txBody>
      </p:sp>
      <p:sp>
        <p:nvSpPr>
          <p:cNvPr id="62" name="TextBox 54">
            <a:extLst>
              <a:ext uri="{FF2B5EF4-FFF2-40B4-BE49-F238E27FC236}">
                <a16:creationId xmlns:a16="http://schemas.microsoft.com/office/drawing/2014/main" id="{05213169-CA49-78EF-0B24-2E873E9635D6}"/>
              </a:ext>
            </a:extLst>
          </p:cNvPr>
          <p:cNvSpPr txBox="1"/>
          <p:nvPr/>
        </p:nvSpPr>
        <p:spPr>
          <a:xfrm>
            <a:off x="3449872" y="489780"/>
            <a:ext cx="10858500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Project KPI’s</a:t>
            </a:r>
            <a:endParaRPr lang="en-US" sz="5400" b="1" spc="862" dirty="0">
              <a:solidFill>
                <a:srgbClr val="00B050"/>
              </a:solidFill>
              <a:latin typeface="Arial" panose="020B0604020202020204" pitchFamily="34" charset="0"/>
              <a:ea typeface="Canva Sans" panose="020B0503030501040103"/>
              <a:cs typeface="Arial" panose="020B0604020202020204" pitchFamily="34" charset="0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4">
            <a:extLst>
              <a:ext uri="{FF2B5EF4-FFF2-40B4-BE49-F238E27FC236}">
                <a16:creationId xmlns:a16="http://schemas.microsoft.com/office/drawing/2014/main" id="{FA7FFFCC-3AFD-296B-D425-804A1DAD3E9C}"/>
              </a:ext>
            </a:extLst>
          </p:cNvPr>
          <p:cNvSpPr txBox="1"/>
          <p:nvPr/>
        </p:nvSpPr>
        <p:spPr>
          <a:xfrm>
            <a:off x="3714750" y="342900"/>
            <a:ext cx="10858500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Excel Dashboard</a:t>
            </a:r>
            <a:endParaRPr lang="en-US" sz="5400" b="1" spc="862" dirty="0">
              <a:solidFill>
                <a:srgbClr val="00B050"/>
              </a:solidFill>
              <a:latin typeface="Arial" panose="020B0604020202020204" pitchFamily="34" charset="0"/>
              <a:ea typeface="Canva Sans" panose="020B0503030501040103"/>
              <a:cs typeface="Arial" panose="020B0604020202020204" pitchFamily="34" charset="0"/>
              <a:sym typeface="Canva Sans" panose="020B0503030501040103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939BA8-81B9-7C85-7E47-75332F742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0777"/>
            <a:ext cx="15544800" cy="87398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38397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9528" y="1762686"/>
            <a:ext cx="6764994" cy="6761628"/>
          </a:xfrm>
          <a:custGeom>
            <a:avLst/>
            <a:gdLst/>
            <a:ahLst/>
            <a:cxnLst/>
            <a:rect l="l" t="t" r="r" b="b"/>
            <a:pathLst>
              <a:path w="6764994" h="6761628">
                <a:moveTo>
                  <a:pt x="0" y="0"/>
                </a:moveTo>
                <a:lnTo>
                  <a:pt x="6764994" y="0"/>
                </a:lnTo>
                <a:lnTo>
                  <a:pt x="6764994" y="6761628"/>
                </a:lnTo>
                <a:lnTo>
                  <a:pt x="0" y="6761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83195" y="3657600"/>
            <a:ext cx="335640" cy="333810"/>
          </a:xfrm>
          <a:custGeom>
            <a:avLst/>
            <a:gdLst/>
            <a:ahLst/>
            <a:cxnLst/>
            <a:rect l="l" t="t" r="r" b="b"/>
            <a:pathLst>
              <a:path w="335640" h="333810">
                <a:moveTo>
                  <a:pt x="0" y="0"/>
                </a:moveTo>
                <a:lnTo>
                  <a:pt x="335640" y="0"/>
                </a:lnTo>
                <a:lnTo>
                  <a:pt x="335640" y="333809"/>
                </a:lnTo>
                <a:lnTo>
                  <a:pt x="0" y="33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856485" y="3657600"/>
            <a:ext cx="335640" cy="333810"/>
          </a:xfrm>
          <a:custGeom>
            <a:avLst/>
            <a:gdLst/>
            <a:ahLst/>
            <a:cxnLst/>
            <a:rect l="l" t="t" r="r" b="b"/>
            <a:pathLst>
              <a:path w="335640" h="333810">
                <a:moveTo>
                  <a:pt x="0" y="0"/>
                </a:moveTo>
                <a:lnTo>
                  <a:pt x="335640" y="0"/>
                </a:lnTo>
                <a:lnTo>
                  <a:pt x="335640" y="333809"/>
                </a:lnTo>
                <a:lnTo>
                  <a:pt x="0" y="33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683195" y="5486400"/>
            <a:ext cx="335640" cy="333810"/>
          </a:xfrm>
          <a:custGeom>
            <a:avLst/>
            <a:gdLst/>
            <a:ahLst/>
            <a:cxnLst/>
            <a:rect l="l" t="t" r="r" b="b"/>
            <a:pathLst>
              <a:path w="335640" h="333810">
                <a:moveTo>
                  <a:pt x="0" y="0"/>
                </a:moveTo>
                <a:lnTo>
                  <a:pt x="335640" y="0"/>
                </a:lnTo>
                <a:lnTo>
                  <a:pt x="335640" y="333810"/>
                </a:lnTo>
                <a:lnTo>
                  <a:pt x="0" y="3338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856485" y="5486400"/>
            <a:ext cx="335640" cy="333810"/>
          </a:xfrm>
          <a:custGeom>
            <a:avLst/>
            <a:gdLst/>
            <a:ahLst/>
            <a:cxnLst/>
            <a:rect l="l" t="t" r="r" b="b"/>
            <a:pathLst>
              <a:path w="335640" h="333810">
                <a:moveTo>
                  <a:pt x="0" y="0"/>
                </a:moveTo>
                <a:lnTo>
                  <a:pt x="335640" y="0"/>
                </a:lnTo>
                <a:lnTo>
                  <a:pt x="335640" y="333810"/>
                </a:lnTo>
                <a:lnTo>
                  <a:pt x="0" y="3338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-2700000">
            <a:off x="4702598" y="6736593"/>
            <a:ext cx="1319149" cy="1319149"/>
            <a:chOff x="0" y="0"/>
            <a:chExt cx="305050" cy="305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5050" cy="305050"/>
            </a:xfrm>
            <a:custGeom>
              <a:avLst/>
              <a:gdLst/>
              <a:ahLst/>
              <a:cxnLst/>
              <a:rect l="l" t="t" r="r" b="b"/>
              <a:pathLst>
                <a:path w="305050" h="305050">
                  <a:moveTo>
                    <a:pt x="117377" y="0"/>
                  </a:moveTo>
                  <a:lnTo>
                    <a:pt x="187672" y="0"/>
                  </a:lnTo>
                  <a:cubicBezTo>
                    <a:pt x="218803" y="0"/>
                    <a:pt x="248658" y="12367"/>
                    <a:pt x="270671" y="34379"/>
                  </a:cubicBezTo>
                  <a:cubicBezTo>
                    <a:pt x="292683" y="56392"/>
                    <a:pt x="305050" y="86247"/>
                    <a:pt x="305050" y="117377"/>
                  </a:cubicBezTo>
                  <a:lnTo>
                    <a:pt x="305050" y="187672"/>
                  </a:lnTo>
                  <a:cubicBezTo>
                    <a:pt x="305050" y="218803"/>
                    <a:pt x="292683" y="248658"/>
                    <a:pt x="270671" y="270671"/>
                  </a:cubicBezTo>
                  <a:cubicBezTo>
                    <a:pt x="248658" y="292683"/>
                    <a:pt x="218803" y="305050"/>
                    <a:pt x="187672" y="305050"/>
                  </a:cubicBezTo>
                  <a:lnTo>
                    <a:pt x="117377" y="305050"/>
                  </a:lnTo>
                  <a:cubicBezTo>
                    <a:pt x="86247" y="305050"/>
                    <a:pt x="56392" y="292683"/>
                    <a:pt x="34379" y="270671"/>
                  </a:cubicBezTo>
                  <a:cubicBezTo>
                    <a:pt x="12367" y="248658"/>
                    <a:pt x="0" y="218803"/>
                    <a:pt x="0" y="187672"/>
                  </a:cubicBezTo>
                  <a:lnTo>
                    <a:pt x="0" y="117377"/>
                  </a:lnTo>
                  <a:cubicBezTo>
                    <a:pt x="0" y="86247"/>
                    <a:pt x="12367" y="56392"/>
                    <a:pt x="34379" y="34379"/>
                  </a:cubicBezTo>
                  <a:cubicBezTo>
                    <a:pt x="56392" y="12367"/>
                    <a:pt x="86247" y="0"/>
                    <a:pt x="117377" y="0"/>
                  </a:cubicBezTo>
                  <a:close/>
                </a:path>
              </a:pathLst>
            </a:custGeom>
            <a:solidFill>
              <a:srgbClr val="FFFFFF"/>
            </a:solidFill>
            <a:ln w="161925" cap="sq">
              <a:solidFill>
                <a:srgbClr val="000038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305050" cy="362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-2700000">
            <a:off x="6412292" y="3825423"/>
            <a:ext cx="1319149" cy="1319149"/>
            <a:chOff x="0" y="0"/>
            <a:chExt cx="305050" cy="3050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5050" cy="305050"/>
            </a:xfrm>
            <a:custGeom>
              <a:avLst/>
              <a:gdLst/>
              <a:ahLst/>
              <a:cxnLst/>
              <a:rect l="l" t="t" r="r" b="b"/>
              <a:pathLst>
                <a:path w="305050" h="305050">
                  <a:moveTo>
                    <a:pt x="117377" y="0"/>
                  </a:moveTo>
                  <a:lnTo>
                    <a:pt x="187672" y="0"/>
                  </a:lnTo>
                  <a:cubicBezTo>
                    <a:pt x="218803" y="0"/>
                    <a:pt x="248658" y="12367"/>
                    <a:pt x="270671" y="34379"/>
                  </a:cubicBezTo>
                  <a:cubicBezTo>
                    <a:pt x="292683" y="56392"/>
                    <a:pt x="305050" y="86247"/>
                    <a:pt x="305050" y="117377"/>
                  </a:cubicBezTo>
                  <a:lnTo>
                    <a:pt x="305050" y="187672"/>
                  </a:lnTo>
                  <a:cubicBezTo>
                    <a:pt x="305050" y="218803"/>
                    <a:pt x="292683" y="248658"/>
                    <a:pt x="270671" y="270671"/>
                  </a:cubicBezTo>
                  <a:cubicBezTo>
                    <a:pt x="248658" y="292683"/>
                    <a:pt x="218803" y="305050"/>
                    <a:pt x="187672" y="305050"/>
                  </a:cubicBezTo>
                  <a:lnTo>
                    <a:pt x="117377" y="305050"/>
                  </a:lnTo>
                  <a:cubicBezTo>
                    <a:pt x="86247" y="305050"/>
                    <a:pt x="56392" y="292683"/>
                    <a:pt x="34379" y="270671"/>
                  </a:cubicBezTo>
                  <a:cubicBezTo>
                    <a:pt x="12367" y="248658"/>
                    <a:pt x="0" y="218803"/>
                    <a:pt x="0" y="187672"/>
                  </a:cubicBezTo>
                  <a:lnTo>
                    <a:pt x="0" y="117377"/>
                  </a:lnTo>
                  <a:cubicBezTo>
                    <a:pt x="0" y="86247"/>
                    <a:pt x="12367" y="56392"/>
                    <a:pt x="34379" y="34379"/>
                  </a:cubicBezTo>
                  <a:cubicBezTo>
                    <a:pt x="56392" y="12367"/>
                    <a:pt x="86247" y="0"/>
                    <a:pt x="117377" y="0"/>
                  </a:cubicBezTo>
                  <a:close/>
                </a:path>
              </a:pathLst>
            </a:custGeom>
            <a:solidFill>
              <a:srgbClr val="FFFFFF"/>
            </a:solidFill>
            <a:ln w="161925" cap="sq">
              <a:solidFill>
                <a:srgbClr val="004259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305050" cy="362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-2700000">
            <a:off x="3484972" y="2068731"/>
            <a:ext cx="1319149" cy="1319149"/>
            <a:chOff x="0" y="0"/>
            <a:chExt cx="305050" cy="3050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05050" cy="305050"/>
            </a:xfrm>
            <a:custGeom>
              <a:avLst/>
              <a:gdLst/>
              <a:ahLst/>
              <a:cxnLst/>
              <a:rect l="l" t="t" r="r" b="b"/>
              <a:pathLst>
                <a:path w="305050" h="305050">
                  <a:moveTo>
                    <a:pt x="117377" y="0"/>
                  </a:moveTo>
                  <a:lnTo>
                    <a:pt x="187672" y="0"/>
                  </a:lnTo>
                  <a:cubicBezTo>
                    <a:pt x="218803" y="0"/>
                    <a:pt x="248658" y="12367"/>
                    <a:pt x="270671" y="34379"/>
                  </a:cubicBezTo>
                  <a:cubicBezTo>
                    <a:pt x="292683" y="56392"/>
                    <a:pt x="305050" y="86247"/>
                    <a:pt x="305050" y="117377"/>
                  </a:cubicBezTo>
                  <a:lnTo>
                    <a:pt x="305050" y="187672"/>
                  </a:lnTo>
                  <a:cubicBezTo>
                    <a:pt x="305050" y="218803"/>
                    <a:pt x="292683" y="248658"/>
                    <a:pt x="270671" y="270671"/>
                  </a:cubicBezTo>
                  <a:cubicBezTo>
                    <a:pt x="248658" y="292683"/>
                    <a:pt x="218803" y="305050"/>
                    <a:pt x="187672" y="305050"/>
                  </a:cubicBezTo>
                  <a:lnTo>
                    <a:pt x="117377" y="305050"/>
                  </a:lnTo>
                  <a:cubicBezTo>
                    <a:pt x="86247" y="305050"/>
                    <a:pt x="56392" y="292683"/>
                    <a:pt x="34379" y="270671"/>
                  </a:cubicBezTo>
                  <a:cubicBezTo>
                    <a:pt x="12367" y="248658"/>
                    <a:pt x="0" y="218803"/>
                    <a:pt x="0" y="187672"/>
                  </a:cubicBezTo>
                  <a:lnTo>
                    <a:pt x="0" y="117377"/>
                  </a:lnTo>
                  <a:cubicBezTo>
                    <a:pt x="0" y="86247"/>
                    <a:pt x="12367" y="56392"/>
                    <a:pt x="34379" y="34379"/>
                  </a:cubicBezTo>
                  <a:cubicBezTo>
                    <a:pt x="56392" y="12367"/>
                    <a:pt x="86247" y="0"/>
                    <a:pt x="117377" y="0"/>
                  </a:cubicBezTo>
                  <a:close/>
                </a:path>
              </a:pathLst>
            </a:custGeom>
            <a:solidFill>
              <a:srgbClr val="FFFFFF"/>
            </a:solidFill>
            <a:ln w="161925" cap="sq">
              <a:solidFill>
                <a:srgbClr val="007B8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305050" cy="362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-2700000">
            <a:off x="1804016" y="5069977"/>
            <a:ext cx="1319149" cy="1319149"/>
            <a:chOff x="0" y="0"/>
            <a:chExt cx="305050" cy="3050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5050" cy="305050"/>
            </a:xfrm>
            <a:custGeom>
              <a:avLst/>
              <a:gdLst/>
              <a:ahLst/>
              <a:cxnLst/>
              <a:rect l="l" t="t" r="r" b="b"/>
              <a:pathLst>
                <a:path w="305050" h="305050">
                  <a:moveTo>
                    <a:pt x="117377" y="0"/>
                  </a:moveTo>
                  <a:lnTo>
                    <a:pt x="187672" y="0"/>
                  </a:lnTo>
                  <a:cubicBezTo>
                    <a:pt x="218803" y="0"/>
                    <a:pt x="248658" y="12367"/>
                    <a:pt x="270671" y="34379"/>
                  </a:cubicBezTo>
                  <a:cubicBezTo>
                    <a:pt x="292683" y="56392"/>
                    <a:pt x="305050" y="86247"/>
                    <a:pt x="305050" y="117377"/>
                  </a:cubicBezTo>
                  <a:lnTo>
                    <a:pt x="305050" y="187672"/>
                  </a:lnTo>
                  <a:cubicBezTo>
                    <a:pt x="305050" y="218803"/>
                    <a:pt x="292683" y="248658"/>
                    <a:pt x="270671" y="270671"/>
                  </a:cubicBezTo>
                  <a:cubicBezTo>
                    <a:pt x="248658" y="292683"/>
                    <a:pt x="218803" y="305050"/>
                    <a:pt x="187672" y="305050"/>
                  </a:cubicBezTo>
                  <a:lnTo>
                    <a:pt x="117377" y="305050"/>
                  </a:lnTo>
                  <a:cubicBezTo>
                    <a:pt x="86247" y="305050"/>
                    <a:pt x="56392" y="292683"/>
                    <a:pt x="34379" y="270671"/>
                  </a:cubicBezTo>
                  <a:cubicBezTo>
                    <a:pt x="12367" y="248658"/>
                    <a:pt x="0" y="218803"/>
                    <a:pt x="0" y="187672"/>
                  </a:cubicBezTo>
                  <a:lnTo>
                    <a:pt x="0" y="117377"/>
                  </a:lnTo>
                  <a:cubicBezTo>
                    <a:pt x="0" y="86247"/>
                    <a:pt x="12367" y="56392"/>
                    <a:pt x="34379" y="34379"/>
                  </a:cubicBezTo>
                  <a:cubicBezTo>
                    <a:pt x="56392" y="12367"/>
                    <a:pt x="86247" y="0"/>
                    <a:pt x="117377" y="0"/>
                  </a:cubicBezTo>
                  <a:close/>
                </a:path>
              </a:pathLst>
            </a:custGeom>
            <a:solidFill>
              <a:srgbClr val="FFFFFF"/>
            </a:solidFill>
            <a:ln w="161925" cap="sq">
              <a:solidFill>
                <a:srgbClr val="56E11B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305050" cy="362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" name="Freeform 19"/>
          <p:cNvSpPr/>
          <p:nvPr/>
        </p:nvSpPr>
        <p:spPr>
          <a:xfrm>
            <a:off x="2165262" y="5474931"/>
            <a:ext cx="596657" cy="596657"/>
          </a:xfrm>
          <a:custGeom>
            <a:avLst/>
            <a:gdLst/>
            <a:ahLst/>
            <a:cxnLst/>
            <a:rect l="l" t="t" r="r" b="b"/>
            <a:pathLst>
              <a:path w="596657" h="596657">
                <a:moveTo>
                  <a:pt x="0" y="0"/>
                </a:moveTo>
                <a:lnTo>
                  <a:pt x="596657" y="0"/>
                </a:lnTo>
                <a:lnTo>
                  <a:pt x="596657" y="596657"/>
                </a:lnTo>
                <a:lnTo>
                  <a:pt x="0" y="59665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773539" y="4236571"/>
            <a:ext cx="596657" cy="496853"/>
          </a:xfrm>
          <a:custGeom>
            <a:avLst/>
            <a:gdLst/>
            <a:ahLst/>
            <a:cxnLst/>
            <a:rect l="l" t="t" r="r" b="b"/>
            <a:pathLst>
              <a:path w="596657" h="496853">
                <a:moveTo>
                  <a:pt x="0" y="0"/>
                </a:moveTo>
                <a:lnTo>
                  <a:pt x="596657" y="0"/>
                </a:lnTo>
                <a:lnTo>
                  <a:pt x="596657" y="496853"/>
                </a:lnTo>
                <a:lnTo>
                  <a:pt x="0" y="4968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Freeform 21"/>
          <p:cNvSpPr/>
          <p:nvPr/>
        </p:nvSpPr>
        <p:spPr>
          <a:xfrm>
            <a:off x="3846218" y="2429977"/>
            <a:ext cx="596657" cy="596657"/>
          </a:xfrm>
          <a:custGeom>
            <a:avLst/>
            <a:gdLst/>
            <a:ahLst/>
            <a:cxnLst/>
            <a:rect l="l" t="t" r="r" b="b"/>
            <a:pathLst>
              <a:path w="596657" h="596657">
                <a:moveTo>
                  <a:pt x="0" y="0"/>
                </a:moveTo>
                <a:lnTo>
                  <a:pt x="596657" y="0"/>
                </a:lnTo>
                <a:lnTo>
                  <a:pt x="596657" y="596657"/>
                </a:lnTo>
                <a:lnTo>
                  <a:pt x="0" y="596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2" name="Freeform 22"/>
          <p:cNvSpPr/>
          <p:nvPr/>
        </p:nvSpPr>
        <p:spPr>
          <a:xfrm>
            <a:off x="5063845" y="7161301"/>
            <a:ext cx="596657" cy="469732"/>
          </a:xfrm>
          <a:custGeom>
            <a:avLst/>
            <a:gdLst/>
            <a:ahLst/>
            <a:cxnLst/>
            <a:rect l="l" t="t" r="r" b="b"/>
            <a:pathLst>
              <a:path w="596657" h="469732">
                <a:moveTo>
                  <a:pt x="0" y="0"/>
                </a:moveTo>
                <a:lnTo>
                  <a:pt x="596657" y="0"/>
                </a:lnTo>
                <a:lnTo>
                  <a:pt x="596657" y="469732"/>
                </a:lnTo>
                <a:lnTo>
                  <a:pt x="0" y="46973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3" name="TextBox 23"/>
          <p:cNvSpPr txBox="1"/>
          <p:nvPr/>
        </p:nvSpPr>
        <p:spPr>
          <a:xfrm>
            <a:off x="9209335" y="3619500"/>
            <a:ext cx="3000375" cy="29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rPr>
              <a:t>Critical Attrition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382625" y="3619500"/>
            <a:ext cx="3000375" cy="29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rPr>
              <a:t>Work-Life Balance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209335" y="4078605"/>
            <a:ext cx="3000375" cy="1104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Arial" panose="020B0604020202020204" pitchFamily="34" charset="0"/>
                <a:ea typeface="Proxima Nova"/>
                <a:cs typeface="Arial" panose="020B0604020202020204" pitchFamily="34" charset="0"/>
                <a:sym typeface="Proxima Nova"/>
              </a:rPr>
              <a:t>Research &amp; Development has the highest attrition rate at 51.21%, indicating the greatest employee turnover.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382625" y="4078605"/>
            <a:ext cx="3000375" cy="822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Arial" panose="020B0604020202020204" pitchFamily="34" charset="0"/>
                <a:ea typeface="Proxima Nova"/>
                <a:cs typeface="Arial" panose="020B0604020202020204" pitchFamily="34" charset="0"/>
                <a:sym typeface="Proxima Nova"/>
              </a:rPr>
              <a:t>Work-life balance scores remain consistent across job roles, ranging from 2.47 to 2.51.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09335" y="5448300"/>
            <a:ext cx="3000375" cy="29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rPr>
              <a:t>Lowest Attrition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3382625" y="5448300"/>
            <a:ext cx="3000375" cy="29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rPr>
              <a:t>Employee Tenure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209335" y="5907405"/>
            <a:ext cx="3000375" cy="1104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Arial" panose="020B0604020202020204" pitchFamily="34" charset="0"/>
                <a:ea typeface="Proxima Nova"/>
                <a:cs typeface="Arial" panose="020B0604020202020204" pitchFamily="34" charset="0"/>
                <a:sym typeface="Proxima Nova"/>
              </a:rPr>
              <a:t>Hardware department records the lowest attrition rate at 49.44%, reflecting comparatively better employee retention.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382625" y="5907405"/>
            <a:ext cx="3952875" cy="1104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Arial" panose="020B0604020202020204" pitchFamily="34" charset="0"/>
                <a:ea typeface="Proxima Nova"/>
                <a:cs typeface="Arial" panose="020B0604020202020204" pitchFamily="34" charset="0"/>
                <a:sym typeface="Proxima Nova"/>
              </a:rPr>
              <a:t>Sales department employees have the highest average tenure (10.84 years), while Research &amp; Development employees have the lowest (10.68 years).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27385" y="849969"/>
            <a:ext cx="84582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Excel Dashboard - Initial Findings &amp; Data Trend</a:t>
            </a:r>
            <a:endParaRPr lang="en-US" sz="4000" spc="862" dirty="0">
              <a:solidFill>
                <a:srgbClr val="00B050"/>
              </a:solidFill>
              <a:latin typeface="Arial" panose="020B0604020202020204" pitchFamily="34" charset="0"/>
              <a:ea typeface="Canva Sans" panose="020B0503030501040103"/>
              <a:cs typeface="Arial" panose="020B0604020202020204" pitchFamily="34" charset="0"/>
              <a:sym typeface="Canva Sans" panose="020B0503030501040103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329275" y="2402014"/>
            <a:ext cx="9006225" cy="671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Covers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50,000 employees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with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25,105 attritions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— an overall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attrition rate of 50.21%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which is unusually high.</a:t>
            </a:r>
            <a:endParaRPr lang="en-US" sz="1899" dirty="0">
              <a:solidFill>
                <a:srgbClr val="000000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sp>
        <p:nvSpPr>
          <p:cNvPr id="33" name="Freeform 3">
            <a:extLst>
              <a:ext uri="{FF2B5EF4-FFF2-40B4-BE49-F238E27FC236}">
                <a16:creationId xmlns:a16="http://schemas.microsoft.com/office/drawing/2014/main" id="{018CBBF5-9C96-A6F6-3D58-EDFCC8E2E475}"/>
              </a:ext>
            </a:extLst>
          </p:cNvPr>
          <p:cNvSpPr/>
          <p:nvPr/>
        </p:nvSpPr>
        <p:spPr>
          <a:xfrm>
            <a:off x="8649857" y="7413519"/>
            <a:ext cx="335640" cy="333810"/>
          </a:xfrm>
          <a:custGeom>
            <a:avLst/>
            <a:gdLst/>
            <a:ahLst/>
            <a:cxnLst/>
            <a:rect l="l" t="t" r="r" b="b"/>
            <a:pathLst>
              <a:path w="335640" h="333810">
                <a:moveTo>
                  <a:pt x="0" y="0"/>
                </a:moveTo>
                <a:lnTo>
                  <a:pt x="335640" y="0"/>
                </a:lnTo>
                <a:lnTo>
                  <a:pt x="335640" y="333809"/>
                </a:lnTo>
                <a:lnTo>
                  <a:pt x="0" y="33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4">
            <a:extLst>
              <a:ext uri="{FF2B5EF4-FFF2-40B4-BE49-F238E27FC236}">
                <a16:creationId xmlns:a16="http://schemas.microsoft.com/office/drawing/2014/main" id="{1F477F5D-3C15-F1BB-A550-15AC2F0EDBAF}"/>
              </a:ext>
            </a:extLst>
          </p:cNvPr>
          <p:cNvSpPr/>
          <p:nvPr/>
        </p:nvSpPr>
        <p:spPr>
          <a:xfrm>
            <a:off x="12823147" y="7413519"/>
            <a:ext cx="335640" cy="333810"/>
          </a:xfrm>
          <a:custGeom>
            <a:avLst/>
            <a:gdLst/>
            <a:ahLst/>
            <a:cxnLst/>
            <a:rect l="l" t="t" r="r" b="b"/>
            <a:pathLst>
              <a:path w="335640" h="333810">
                <a:moveTo>
                  <a:pt x="0" y="0"/>
                </a:moveTo>
                <a:lnTo>
                  <a:pt x="335640" y="0"/>
                </a:lnTo>
                <a:lnTo>
                  <a:pt x="335640" y="333809"/>
                </a:lnTo>
                <a:lnTo>
                  <a:pt x="0" y="33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23">
            <a:extLst>
              <a:ext uri="{FF2B5EF4-FFF2-40B4-BE49-F238E27FC236}">
                <a16:creationId xmlns:a16="http://schemas.microsoft.com/office/drawing/2014/main" id="{C50D7395-04C1-A3AF-2E1D-9393D4AEF195}"/>
              </a:ext>
            </a:extLst>
          </p:cNvPr>
          <p:cNvSpPr txBox="1"/>
          <p:nvPr/>
        </p:nvSpPr>
        <p:spPr>
          <a:xfrm>
            <a:off x="9175997" y="7375419"/>
            <a:ext cx="3000375" cy="29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rPr>
              <a:t>Income Analysis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36" name="TextBox 24">
            <a:extLst>
              <a:ext uri="{FF2B5EF4-FFF2-40B4-BE49-F238E27FC236}">
                <a16:creationId xmlns:a16="http://schemas.microsoft.com/office/drawing/2014/main" id="{B9DA1F47-720B-75C5-BEA2-5AA6193F8012}"/>
              </a:ext>
            </a:extLst>
          </p:cNvPr>
          <p:cNvSpPr txBox="1"/>
          <p:nvPr/>
        </p:nvSpPr>
        <p:spPr>
          <a:xfrm>
            <a:off x="13349287" y="7375419"/>
            <a:ext cx="3000375" cy="29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rPr>
              <a:t>Business Recommendation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37" name="TextBox 25">
            <a:extLst>
              <a:ext uri="{FF2B5EF4-FFF2-40B4-BE49-F238E27FC236}">
                <a16:creationId xmlns:a16="http://schemas.microsoft.com/office/drawing/2014/main" id="{887BC110-3270-D427-DB82-A41F92F2BFC4}"/>
              </a:ext>
            </a:extLst>
          </p:cNvPr>
          <p:cNvSpPr txBox="1"/>
          <p:nvPr/>
        </p:nvSpPr>
        <p:spPr>
          <a:xfrm>
            <a:off x="9175997" y="7834524"/>
            <a:ext cx="3000375" cy="138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Arial" panose="020B0604020202020204" pitchFamily="34" charset="0"/>
                <a:ea typeface="Proxima Nova"/>
                <a:cs typeface="Arial" panose="020B0604020202020204" pitchFamily="34" charset="0"/>
                <a:sym typeface="Proxima Nova"/>
              </a:rPr>
              <a:t>Employees earning more than 40K have the highest attrition rate (50.89%), showing that higher salaries do not guarantee retention.</a:t>
            </a:r>
          </a:p>
        </p:txBody>
      </p:sp>
      <p:sp>
        <p:nvSpPr>
          <p:cNvPr id="38" name="TextBox 26">
            <a:extLst>
              <a:ext uri="{FF2B5EF4-FFF2-40B4-BE49-F238E27FC236}">
                <a16:creationId xmlns:a16="http://schemas.microsoft.com/office/drawing/2014/main" id="{66525E8F-D2D1-0BCE-189A-5DE625FF10D2}"/>
              </a:ext>
            </a:extLst>
          </p:cNvPr>
          <p:cNvSpPr txBox="1"/>
          <p:nvPr/>
        </p:nvSpPr>
        <p:spPr>
          <a:xfrm>
            <a:off x="13349287" y="7834524"/>
            <a:ext cx="4176713" cy="1104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Arial" panose="020B0604020202020204" pitchFamily="34" charset="0"/>
                <a:ea typeface="Proxima Nova"/>
                <a:cs typeface="Arial" panose="020B0604020202020204" pitchFamily="34" charset="0"/>
                <a:sym typeface="Proxima Nova"/>
              </a:rPr>
              <a:t>Improving employee engagement, career development, and work-life balance—especially in Research &amp; Development—can help reduce attrition and improve retention.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5249C-0436-74F3-3B84-73B8FBB72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4">
            <a:extLst>
              <a:ext uri="{FF2B5EF4-FFF2-40B4-BE49-F238E27FC236}">
                <a16:creationId xmlns:a16="http://schemas.microsoft.com/office/drawing/2014/main" id="{58CE13C7-BFE6-1BA2-7FC2-840D0C1DFA71}"/>
              </a:ext>
            </a:extLst>
          </p:cNvPr>
          <p:cNvSpPr txBox="1"/>
          <p:nvPr/>
        </p:nvSpPr>
        <p:spPr>
          <a:xfrm>
            <a:off x="3449872" y="489780"/>
            <a:ext cx="10858500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Power BI Dashboard</a:t>
            </a:r>
            <a:endParaRPr lang="en-US" sz="5400" b="1" spc="862" dirty="0">
              <a:solidFill>
                <a:srgbClr val="00B050"/>
              </a:solidFill>
              <a:latin typeface="Arial" panose="020B0604020202020204" pitchFamily="34" charset="0"/>
              <a:ea typeface="Canva Sans" panose="020B0503030501040103"/>
              <a:cs typeface="Arial" panose="020B0604020202020204" pitchFamily="34" charset="0"/>
              <a:sym typeface="Canva Sans" panose="020B0503030501040103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8398F1-373F-01D6-4FBC-1A43EC07B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1485900"/>
            <a:ext cx="16116300" cy="818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41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700000">
            <a:off x="6868526" y="2912111"/>
            <a:ext cx="3057614" cy="2117723"/>
            <a:chOff x="0" y="0"/>
            <a:chExt cx="1108820" cy="7679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8820" cy="767976"/>
            </a:xfrm>
            <a:custGeom>
              <a:avLst/>
              <a:gdLst/>
              <a:ahLst/>
              <a:cxnLst/>
              <a:rect l="l" t="t" r="r" b="b"/>
              <a:pathLst>
                <a:path w="1108820" h="767976">
                  <a:moveTo>
                    <a:pt x="0" y="383988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1108820" y="203200"/>
                  </a:lnTo>
                  <a:lnTo>
                    <a:pt x="1108820" y="564776"/>
                  </a:lnTo>
                  <a:lnTo>
                    <a:pt x="406400" y="564776"/>
                  </a:lnTo>
                  <a:lnTo>
                    <a:pt x="406400" y="767976"/>
                  </a:lnTo>
                  <a:lnTo>
                    <a:pt x="0" y="383988"/>
                  </a:lnTo>
                  <a:close/>
                </a:path>
              </a:pathLst>
            </a:custGeom>
            <a:solidFill>
              <a:srgbClr val="56E11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146050"/>
              <a:ext cx="1007220" cy="418726"/>
            </a:xfrm>
            <a:prstGeom prst="rect">
              <a:avLst/>
            </a:prstGeom>
          </p:spPr>
          <p:txBody>
            <a:bodyPr lIns="69292" tIns="69292" rIns="69292" bIns="69292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2700000">
            <a:off x="6868526" y="5650895"/>
            <a:ext cx="3057614" cy="2117723"/>
            <a:chOff x="0" y="0"/>
            <a:chExt cx="1108820" cy="7679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08820" cy="767976"/>
            </a:xfrm>
            <a:custGeom>
              <a:avLst/>
              <a:gdLst/>
              <a:ahLst/>
              <a:cxnLst/>
              <a:rect l="l" t="t" r="r" b="b"/>
              <a:pathLst>
                <a:path w="1108820" h="767976">
                  <a:moveTo>
                    <a:pt x="0" y="383988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1108820" y="203200"/>
                  </a:lnTo>
                  <a:lnTo>
                    <a:pt x="1108820" y="564776"/>
                  </a:lnTo>
                  <a:lnTo>
                    <a:pt x="406400" y="564776"/>
                  </a:lnTo>
                  <a:lnTo>
                    <a:pt x="406400" y="767976"/>
                  </a:lnTo>
                  <a:lnTo>
                    <a:pt x="0" y="383988"/>
                  </a:lnTo>
                  <a:close/>
                </a:path>
              </a:pathLst>
            </a:custGeom>
            <a:solidFill>
              <a:srgbClr val="0042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146050"/>
              <a:ext cx="1007220" cy="418726"/>
            </a:xfrm>
            <a:prstGeom prst="rect">
              <a:avLst/>
            </a:prstGeom>
          </p:spPr>
          <p:txBody>
            <a:bodyPr lIns="69292" tIns="69292" rIns="69292" bIns="69292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8100000">
            <a:off x="8361859" y="4281503"/>
            <a:ext cx="3057614" cy="2117723"/>
            <a:chOff x="0" y="0"/>
            <a:chExt cx="1108820" cy="7679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08820" cy="767976"/>
            </a:xfrm>
            <a:custGeom>
              <a:avLst/>
              <a:gdLst/>
              <a:ahLst/>
              <a:cxnLst/>
              <a:rect l="l" t="t" r="r" b="b"/>
              <a:pathLst>
                <a:path w="1108820" h="767976">
                  <a:moveTo>
                    <a:pt x="0" y="383988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1108820" y="203200"/>
                  </a:lnTo>
                  <a:lnTo>
                    <a:pt x="1108820" y="564776"/>
                  </a:lnTo>
                  <a:lnTo>
                    <a:pt x="406400" y="564776"/>
                  </a:lnTo>
                  <a:lnTo>
                    <a:pt x="406400" y="767976"/>
                  </a:lnTo>
                  <a:lnTo>
                    <a:pt x="0" y="383988"/>
                  </a:lnTo>
                  <a:close/>
                </a:path>
              </a:pathLst>
            </a:custGeom>
            <a:solidFill>
              <a:srgbClr val="007B8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146050"/>
              <a:ext cx="1007220" cy="418726"/>
            </a:xfrm>
            <a:prstGeom prst="rect">
              <a:avLst/>
            </a:prstGeom>
          </p:spPr>
          <p:txBody>
            <a:bodyPr lIns="69292" tIns="69292" rIns="69292" bIns="69292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8100000">
            <a:off x="8361859" y="7020287"/>
            <a:ext cx="3057614" cy="2117723"/>
            <a:chOff x="0" y="0"/>
            <a:chExt cx="1108820" cy="7679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08820" cy="767976"/>
            </a:xfrm>
            <a:custGeom>
              <a:avLst/>
              <a:gdLst/>
              <a:ahLst/>
              <a:cxnLst/>
              <a:rect l="l" t="t" r="r" b="b"/>
              <a:pathLst>
                <a:path w="1108820" h="767976">
                  <a:moveTo>
                    <a:pt x="0" y="383988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1108820" y="203200"/>
                  </a:lnTo>
                  <a:lnTo>
                    <a:pt x="1108820" y="564776"/>
                  </a:lnTo>
                  <a:lnTo>
                    <a:pt x="406400" y="564776"/>
                  </a:lnTo>
                  <a:lnTo>
                    <a:pt x="406400" y="767976"/>
                  </a:lnTo>
                  <a:lnTo>
                    <a:pt x="0" y="383988"/>
                  </a:lnTo>
                  <a:close/>
                </a:path>
              </a:pathLst>
            </a:custGeom>
            <a:solidFill>
              <a:srgbClr val="00003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146050"/>
              <a:ext cx="1007220" cy="418726"/>
            </a:xfrm>
            <a:prstGeom prst="rect">
              <a:avLst/>
            </a:prstGeom>
          </p:spPr>
          <p:txBody>
            <a:bodyPr lIns="69292" tIns="69292" rIns="69292" bIns="69292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456737" y="8808132"/>
            <a:ext cx="1084136" cy="1478868"/>
            <a:chOff x="0" y="0"/>
            <a:chExt cx="209332" cy="28554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332" cy="285549"/>
            </a:xfrm>
            <a:custGeom>
              <a:avLst/>
              <a:gdLst/>
              <a:ahLst/>
              <a:cxnLst/>
              <a:rect l="l" t="t" r="r" b="b"/>
              <a:pathLst>
                <a:path w="209332" h="285549">
                  <a:moveTo>
                    <a:pt x="0" y="0"/>
                  </a:moveTo>
                  <a:lnTo>
                    <a:pt x="209332" y="0"/>
                  </a:lnTo>
                  <a:lnTo>
                    <a:pt x="209332" y="285549"/>
                  </a:lnTo>
                  <a:lnTo>
                    <a:pt x="0" y="285549"/>
                  </a:lnTo>
                  <a:close/>
                </a:path>
              </a:pathLst>
            </a:custGeom>
            <a:solidFill>
              <a:srgbClr val="00003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09332" cy="342699"/>
            </a:xfrm>
            <a:prstGeom prst="rect">
              <a:avLst/>
            </a:prstGeom>
          </p:spPr>
          <p:txBody>
            <a:bodyPr lIns="69292" tIns="69292" rIns="69292" bIns="69292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>
            <a:off x="7639643" y="3106345"/>
            <a:ext cx="488546" cy="666750"/>
          </a:xfrm>
          <a:custGeom>
            <a:avLst/>
            <a:gdLst/>
            <a:ahLst/>
            <a:cxnLst/>
            <a:rect l="l" t="t" r="r" b="b"/>
            <a:pathLst>
              <a:path w="488546" h="666750">
                <a:moveTo>
                  <a:pt x="0" y="0"/>
                </a:moveTo>
                <a:lnTo>
                  <a:pt x="488546" y="0"/>
                </a:lnTo>
                <a:lnTo>
                  <a:pt x="488546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>
            <a:off x="9944007" y="4592003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7636487" y="5873862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0" name="Freeform 20"/>
          <p:cNvSpPr/>
          <p:nvPr/>
        </p:nvSpPr>
        <p:spPr>
          <a:xfrm>
            <a:off x="10013731" y="7242666"/>
            <a:ext cx="644929" cy="666750"/>
          </a:xfrm>
          <a:custGeom>
            <a:avLst/>
            <a:gdLst/>
            <a:ahLst/>
            <a:cxnLst/>
            <a:rect l="l" t="t" r="r" b="b"/>
            <a:pathLst>
              <a:path w="644929" h="666750">
                <a:moveTo>
                  <a:pt x="0" y="0"/>
                </a:moveTo>
                <a:lnTo>
                  <a:pt x="644930" y="0"/>
                </a:lnTo>
                <a:lnTo>
                  <a:pt x="64493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Freeform 21"/>
          <p:cNvSpPr/>
          <p:nvPr/>
        </p:nvSpPr>
        <p:spPr>
          <a:xfrm>
            <a:off x="1990647" y="4879998"/>
            <a:ext cx="3794117" cy="344920"/>
          </a:xfrm>
          <a:custGeom>
            <a:avLst/>
            <a:gdLst/>
            <a:ahLst/>
            <a:cxnLst/>
            <a:rect l="l" t="t" r="r" b="b"/>
            <a:pathLst>
              <a:path w="3794117" h="344920">
                <a:moveTo>
                  <a:pt x="0" y="0"/>
                </a:moveTo>
                <a:lnTo>
                  <a:pt x="3794117" y="0"/>
                </a:lnTo>
                <a:lnTo>
                  <a:pt x="3794117" y="344920"/>
                </a:lnTo>
                <a:lnTo>
                  <a:pt x="0" y="344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0000"/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990647" y="7620000"/>
            <a:ext cx="3794117" cy="344920"/>
          </a:xfrm>
          <a:custGeom>
            <a:avLst/>
            <a:gdLst/>
            <a:ahLst/>
            <a:cxnLst/>
            <a:rect l="l" t="t" r="r" b="b"/>
            <a:pathLst>
              <a:path w="3794117" h="344920">
                <a:moveTo>
                  <a:pt x="0" y="0"/>
                </a:moveTo>
                <a:lnTo>
                  <a:pt x="3794117" y="0"/>
                </a:lnTo>
                <a:lnTo>
                  <a:pt x="3794117" y="344920"/>
                </a:lnTo>
                <a:lnTo>
                  <a:pt x="0" y="344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0000"/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2764375" y="6249999"/>
            <a:ext cx="3794117" cy="344920"/>
          </a:xfrm>
          <a:custGeom>
            <a:avLst/>
            <a:gdLst/>
            <a:ahLst/>
            <a:cxnLst/>
            <a:rect l="l" t="t" r="r" b="b"/>
            <a:pathLst>
              <a:path w="3794117" h="344920">
                <a:moveTo>
                  <a:pt x="0" y="0"/>
                </a:moveTo>
                <a:lnTo>
                  <a:pt x="3794117" y="0"/>
                </a:lnTo>
                <a:lnTo>
                  <a:pt x="3794117" y="344920"/>
                </a:lnTo>
                <a:lnTo>
                  <a:pt x="0" y="344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0000"/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2764375" y="8989580"/>
            <a:ext cx="3794117" cy="344920"/>
          </a:xfrm>
          <a:custGeom>
            <a:avLst/>
            <a:gdLst/>
            <a:ahLst/>
            <a:cxnLst/>
            <a:rect l="l" t="t" r="r" b="b"/>
            <a:pathLst>
              <a:path w="3794117" h="344920">
                <a:moveTo>
                  <a:pt x="0" y="0"/>
                </a:moveTo>
                <a:lnTo>
                  <a:pt x="3794117" y="0"/>
                </a:lnTo>
                <a:lnTo>
                  <a:pt x="3794117" y="344920"/>
                </a:lnTo>
                <a:lnTo>
                  <a:pt x="0" y="344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0000"/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1654005" y="2879748"/>
            <a:ext cx="5084134" cy="2000250"/>
            <a:chOff x="-120768" y="0"/>
            <a:chExt cx="6778846" cy="2667000"/>
          </a:xfrm>
        </p:grpSpPr>
        <p:grpSp>
          <p:nvGrpSpPr>
            <p:cNvPr id="26" name="Group 26"/>
            <p:cNvGrpSpPr/>
            <p:nvPr/>
          </p:nvGrpSpPr>
          <p:grpSpPr>
            <a:xfrm rot="-5400000">
              <a:off x="5536119" y="-392619"/>
              <a:ext cx="729340" cy="1514578"/>
              <a:chOff x="0" y="0"/>
              <a:chExt cx="660400" cy="137141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60400" cy="1371415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1371415">
                    <a:moveTo>
                      <a:pt x="220252" y="1352346"/>
                    </a:moveTo>
                    <a:cubicBezTo>
                      <a:pt x="254109" y="1363860"/>
                      <a:pt x="292600" y="1371415"/>
                      <a:pt x="330378" y="1371415"/>
                    </a:cubicBezTo>
                    <a:cubicBezTo>
                      <a:pt x="368157" y="1371415"/>
                      <a:pt x="404509" y="1364938"/>
                      <a:pt x="438009" y="1353424"/>
                    </a:cubicBezTo>
                    <a:cubicBezTo>
                      <a:pt x="438723" y="1353065"/>
                      <a:pt x="439435" y="1353065"/>
                      <a:pt x="440148" y="1352705"/>
                    </a:cubicBezTo>
                    <a:cubicBezTo>
                      <a:pt x="565955" y="1306650"/>
                      <a:pt x="658618" y="1185036"/>
                      <a:pt x="660400" y="1030505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029740"/>
                    </a:lnTo>
                    <a:cubicBezTo>
                      <a:pt x="1782" y="1185755"/>
                      <a:pt x="93019" y="1307370"/>
                      <a:pt x="220252" y="1352346"/>
                    </a:cubicBezTo>
                    <a:close/>
                  </a:path>
                </a:pathLst>
              </a:custGeom>
              <a:solidFill>
                <a:srgbClr val="56E11B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660400" cy="12825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0" y="0"/>
              <a:ext cx="5715000" cy="2667000"/>
              <a:chOff x="0" y="0"/>
              <a:chExt cx="1128889" cy="52681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128889" cy="526815"/>
              </a:xfrm>
              <a:custGeom>
                <a:avLst/>
                <a:gdLst/>
                <a:ahLst/>
                <a:cxnLst/>
                <a:rect l="l" t="t" r="r" b="b"/>
                <a:pathLst>
                  <a:path w="1128889" h="526815">
                    <a:moveTo>
                      <a:pt x="45156" y="0"/>
                    </a:moveTo>
                    <a:lnTo>
                      <a:pt x="1083733" y="0"/>
                    </a:lnTo>
                    <a:cubicBezTo>
                      <a:pt x="1108672" y="0"/>
                      <a:pt x="1128889" y="20217"/>
                      <a:pt x="1128889" y="45156"/>
                    </a:cubicBezTo>
                    <a:lnTo>
                      <a:pt x="1128889" y="481659"/>
                    </a:lnTo>
                    <a:cubicBezTo>
                      <a:pt x="1128889" y="506598"/>
                      <a:pt x="1108672" y="526815"/>
                      <a:pt x="1083733" y="526815"/>
                    </a:cubicBezTo>
                    <a:lnTo>
                      <a:pt x="45156" y="526815"/>
                    </a:lnTo>
                    <a:cubicBezTo>
                      <a:pt x="20217" y="526815"/>
                      <a:pt x="0" y="506598"/>
                      <a:pt x="0" y="481659"/>
                    </a:cubicBezTo>
                    <a:lnTo>
                      <a:pt x="0" y="45156"/>
                    </a:lnTo>
                    <a:cubicBezTo>
                      <a:pt x="0" y="20217"/>
                      <a:pt x="20217" y="0"/>
                      <a:pt x="4515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1128889" cy="5649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5715001" y="87811"/>
              <a:ext cx="828295" cy="529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Arial" panose="020B0604020202020204" pitchFamily="34" charset="0"/>
                  <a:ea typeface="Proxima Nova Bold"/>
                  <a:cs typeface="Arial" panose="020B0604020202020204" pitchFamily="34" charset="0"/>
                  <a:sym typeface="Proxima Nova Bold"/>
                </a:rPr>
                <a:t>01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-120768" y="463973"/>
              <a:ext cx="5986418" cy="3984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I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Promotion Delay Impacts Attrition</a:t>
              </a:r>
              <a:endPara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1500" y="1076113"/>
              <a:ext cx="5058822" cy="11132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239"/>
                </a:lnSpc>
                <a:spcBef>
                  <a:spcPct val="0"/>
                </a:spcBef>
              </a:pPr>
              <a:r>
                <a:rPr lang="en-IN" sz="1600" dirty="0">
                  <a:latin typeface="Arial" panose="020B0604020202020204" pitchFamily="34" charset="0"/>
                  <a:cs typeface="Arial" panose="020B0604020202020204" pitchFamily="34" charset="0"/>
                </a:rPr>
                <a:t>Employees promoted within </a:t>
              </a:r>
              <a:r>
                <a:rPr lang="en-IN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 year</a:t>
              </a:r>
              <a:r>
                <a:rPr lang="en-IN" sz="1600" dirty="0">
                  <a:latin typeface="Arial" panose="020B0604020202020204" pitchFamily="34" charset="0"/>
                  <a:cs typeface="Arial" panose="020B0604020202020204" pitchFamily="34" charset="0"/>
                </a:rPr>
                <a:t> show the highest attrition count (</a:t>
              </a:r>
              <a:r>
                <a:rPr lang="en-IN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6,230 employees</a:t>
              </a:r>
              <a:r>
                <a:rPr lang="en-IN" sz="1600" dirty="0">
                  <a:latin typeface="Arial" panose="020B0604020202020204" pitchFamily="34" charset="0"/>
                  <a:cs typeface="Arial" panose="020B0604020202020204" pitchFamily="34" charset="0"/>
                </a:rPr>
                <a:t>).</a:t>
              </a:r>
              <a:endParaRPr lang="en-US" sz="1599" dirty="0">
                <a:solidFill>
                  <a:srgbClr val="000000"/>
                </a:solidFill>
                <a:latin typeface="Arial" panose="020B0604020202020204" pitchFamily="34" charset="0"/>
                <a:ea typeface="Proxima Nova"/>
                <a:cs typeface="Arial" panose="020B0604020202020204" pitchFamily="34" charset="0"/>
                <a:sym typeface="Proxima Nova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 rot="5400000">
            <a:off x="12105464" y="3955285"/>
            <a:ext cx="547005" cy="1135933"/>
            <a:chOff x="0" y="0"/>
            <a:chExt cx="660400" cy="137141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60400" cy="1371415"/>
            </a:xfrm>
            <a:custGeom>
              <a:avLst/>
              <a:gdLst/>
              <a:ahLst/>
              <a:cxnLst/>
              <a:rect l="l" t="t" r="r" b="b"/>
              <a:pathLst>
                <a:path w="660400" h="1371415">
                  <a:moveTo>
                    <a:pt x="220252" y="1352346"/>
                  </a:moveTo>
                  <a:cubicBezTo>
                    <a:pt x="254109" y="1363860"/>
                    <a:pt x="292600" y="1371415"/>
                    <a:pt x="330378" y="1371415"/>
                  </a:cubicBezTo>
                  <a:cubicBezTo>
                    <a:pt x="368157" y="1371415"/>
                    <a:pt x="404509" y="1364938"/>
                    <a:pt x="438009" y="1353424"/>
                  </a:cubicBezTo>
                  <a:cubicBezTo>
                    <a:pt x="438723" y="1353065"/>
                    <a:pt x="439435" y="1353065"/>
                    <a:pt x="440148" y="1352705"/>
                  </a:cubicBezTo>
                  <a:cubicBezTo>
                    <a:pt x="565955" y="1306650"/>
                    <a:pt x="658618" y="1185036"/>
                    <a:pt x="660400" y="1030505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29740"/>
                  </a:lnTo>
                  <a:cubicBezTo>
                    <a:pt x="1782" y="1185755"/>
                    <a:pt x="93019" y="1307370"/>
                    <a:pt x="220252" y="1352346"/>
                  </a:cubicBezTo>
                  <a:close/>
                </a:path>
              </a:pathLst>
            </a:custGeom>
            <a:solidFill>
              <a:srgbClr val="007B80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660400" cy="1301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518308" y="4249749"/>
            <a:ext cx="4931492" cy="2000250"/>
            <a:chOff x="0" y="0"/>
            <a:chExt cx="1128889" cy="52681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28889" cy="526815"/>
            </a:xfrm>
            <a:custGeom>
              <a:avLst/>
              <a:gdLst/>
              <a:ahLst/>
              <a:cxnLst/>
              <a:rect l="l" t="t" r="r" b="b"/>
              <a:pathLst>
                <a:path w="1128889" h="526815">
                  <a:moveTo>
                    <a:pt x="45156" y="0"/>
                  </a:moveTo>
                  <a:lnTo>
                    <a:pt x="1083733" y="0"/>
                  </a:lnTo>
                  <a:cubicBezTo>
                    <a:pt x="1108672" y="0"/>
                    <a:pt x="1128889" y="20217"/>
                    <a:pt x="1128889" y="45156"/>
                  </a:cubicBezTo>
                  <a:lnTo>
                    <a:pt x="1128889" y="481659"/>
                  </a:lnTo>
                  <a:cubicBezTo>
                    <a:pt x="1128889" y="506598"/>
                    <a:pt x="1108672" y="526815"/>
                    <a:pt x="1083733" y="526815"/>
                  </a:cubicBezTo>
                  <a:lnTo>
                    <a:pt x="45156" y="526815"/>
                  </a:lnTo>
                  <a:cubicBezTo>
                    <a:pt x="20217" y="526815"/>
                    <a:pt x="0" y="506598"/>
                    <a:pt x="0" y="481659"/>
                  </a:cubicBezTo>
                  <a:lnTo>
                    <a:pt x="0" y="45156"/>
                  </a:lnTo>
                  <a:cubicBezTo>
                    <a:pt x="0" y="20217"/>
                    <a:pt x="20217" y="0"/>
                    <a:pt x="451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128889" cy="564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897087" y="4306082"/>
            <a:ext cx="621222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rPr>
              <a:t>02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641890" y="4533900"/>
            <a:ext cx="4655510" cy="298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Work-Life Balance Varies by Job Role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2946932" y="5047309"/>
            <a:ext cx="4198067" cy="1104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Highest work-life balance score: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Research Scientist (2.51)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Lowest work-life balance score: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Sales Executive (2.47)</a:t>
            </a:r>
            <a:endParaRPr lang="en-US" sz="1599" dirty="0">
              <a:solidFill>
                <a:srgbClr val="000000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grpSp>
        <p:nvGrpSpPr>
          <p:cNvPr id="44" name="Group 44"/>
          <p:cNvGrpSpPr/>
          <p:nvPr/>
        </p:nvGrpSpPr>
        <p:grpSpPr>
          <a:xfrm rot="5400000">
            <a:off x="12105464" y="6695286"/>
            <a:ext cx="547005" cy="1135933"/>
            <a:chOff x="0" y="0"/>
            <a:chExt cx="660400" cy="137141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60400" cy="1371415"/>
            </a:xfrm>
            <a:custGeom>
              <a:avLst/>
              <a:gdLst/>
              <a:ahLst/>
              <a:cxnLst/>
              <a:rect l="l" t="t" r="r" b="b"/>
              <a:pathLst>
                <a:path w="660400" h="1371415">
                  <a:moveTo>
                    <a:pt x="220252" y="1352346"/>
                  </a:moveTo>
                  <a:cubicBezTo>
                    <a:pt x="254109" y="1363860"/>
                    <a:pt x="292600" y="1371415"/>
                    <a:pt x="330378" y="1371415"/>
                  </a:cubicBezTo>
                  <a:cubicBezTo>
                    <a:pt x="368157" y="1371415"/>
                    <a:pt x="404509" y="1364938"/>
                    <a:pt x="438009" y="1353424"/>
                  </a:cubicBezTo>
                  <a:cubicBezTo>
                    <a:pt x="438723" y="1353065"/>
                    <a:pt x="439435" y="1353065"/>
                    <a:pt x="440148" y="1352705"/>
                  </a:cubicBezTo>
                  <a:cubicBezTo>
                    <a:pt x="565955" y="1306650"/>
                    <a:pt x="658618" y="1185036"/>
                    <a:pt x="660400" y="1030505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29740"/>
                  </a:lnTo>
                  <a:cubicBezTo>
                    <a:pt x="1782" y="1185755"/>
                    <a:pt x="93019" y="1307370"/>
                    <a:pt x="220252" y="1352346"/>
                  </a:cubicBezTo>
                  <a:close/>
                </a:path>
              </a:pathLst>
            </a:custGeom>
            <a:solidFill>
              <a:srgbClr val="000038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-57150"/>
              <a:ext cx="660400" cy="1301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518308" y="6989750"/>
            <a:ext cx="4931492" cy="2344749"/>
            <a:chOff x="0" y="0"/>
            <a:chExt cx="1128889" cy="52681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128889" cy="526815"/>
            </a:xfrm>
            <a:custGeom>
              <a:avLst/>
              <a:gdLst/>
              <a:ahLst/>
              <a:cxnLst/>
              <a:rect l="l" t="t" r="r" b="b"/>
              <a:pathLst>
                <a:path w="1128889" h="526815">
                  <a:moveTo>
                    <a:pt x="45156" y="0"/>
                  </a:moveTo>
                  <a:lnTo>
                    <a:pt x="1083733" y="0"/>
                  </a:lnTo>
                  <a:cubicBezTo>
                    <a:pt x="1108672" y="0"/>
                    <a:pt x="1128889" y="20217"/>
                    <a:pt x="1128889" y="45156"/>
                  </a:cubicBezTo>
                  <a:lnTo>
                    <a:pt x="1128889" y="481659"/>
                  </a:lnTo>
                  <a:cubicBezTo>
                    <a:pt x="1128889" y="506598"/>
                    <a:pt x="1108672" y="526815"/>
                    <a:pt x="1083733" y="526815"/>
                  </a:cubicBezTo>
                  <a:lnTo>
                    <a:pt x="45156" y="526815"/>
                  </a:lnTo>
                  <a:cubicBezTo>
                    <a:pt x="20217" y="526815"/>
                    <a:pt x="0" y="506598"/>
                    <a:pt x="0" y="481659"/>
                  </a:cubicBezTo>
                  <a:lnTo>
                    <a:pt x="0" y="45156"/>
                  </a:lnTo>
                  <a:cubicBezTo>
                    <a:pt x="0" y="20217"/>
                    <a:pt x="20217" y="0"/>
                    <a:pt x="451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1128889" cy="564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897087" y="7046083"/>
            <a:ext cx="621222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rPr>
              <a:t>04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946933" y="7328206"/>
            <a:ext cx="3429000" cy="29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Average Working Years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2946932" y="7787311"/>
            <a:ext cx="4350468" cy="1401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US" sz="1600" dirty="0"/>
              <a:t>Employees stay approximately </a:t>
            </a:r>
            <a:r>
              <a:rPr lang="en-US" sz="1600" b="1" dirty="0"/>
              <a:t>20–21 years</a:t>
            </a:r>
            <a:r>
              <a:rPr lang="en-US" sz="1600" dirty="0"/>
              <a:t> across departments.</a:t>
            </a:r>
            <a:br>
              <a:rPr lang="en-US" sz="1600" dirty="0"/>
            </a:br>
            <a:r>
              <a:rPr lang="en-US" sz="1600" b="1" dirty="0"/>
              <a:t>Support Department has the highest average tenure (20.65 years), while Software has the lowest (20.30 years).</a:t>
            </a:r>
            <a:endParaRPr lang="en-US" sz="1599" dirty="0">
              <a:solidFill>
                <a:srgbClr val="000000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grpSp>
        <p:nvGrpSpPr>
          <p:cNvPr id="53" name="Group 53"/>
          <p:cNvGrpSpPr/>
          <p:nvPr/>
        </p:nvGrpSpPr>
        <p:grpSpPr>
          <a:xfrm rot="-5400000">
            <a:off x="5896670" y="5325286"/>
            <a:ext cx="547005" cy="1135933"/>
            <a:chOff x="0" y="0"/>
            <a:chExt cx="660400" cy="1371415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60400" cy="1371415"/>
            </a:xfrm>
            <a:custGeom>
              <a:avLst/>
              <a:gdLst/>
              <a:ahLst/>
              <a:cxnLst/>
              <a:rect l="l" t="t" r="r" b="b"/>
              <a:pathLst>
                <a:path w="660400" h="1371415">
                  <a:moveTo>
                    <a:pt x="220252" y="1352346"/>
                  </a:moveTo>
                  <a:cubicBezTo>
                    <a:pt x="254109" y="1363860"/>
                    <a:pt x="292600" y="1371415"/>
                    <a:pt x="330378" y="1371415"/>
                  </a:cubicBezTo>
                  <a:cubicBezTo>
                    <a:pt x="368157" y="1371415"/>
                    <a:pt x="404509" y="1364938"/>
                    <a:pt x="438009" y="1353424"/>
                  </a:cubicBezTo>
                  <a:cubicBezTo>
                    <a:pt x="438723" y="1353065"/>
                    <a:pt x="439435" y="1353065"/>
                    <a:pt x="440148" y="1352705"/>
                  </a:cubicBezTo>
                  <a:cubicBezTo>
                    <a:pt x="565955" y="1306650"/>
                    <a:pt x="658618" y="1185036"/>
                    <a:pt x="660400" y="1030505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29740"/>
                  </a:lnTo>
                  <a:cubicBezTo>
                    <a:pt x="1782" y="1185755"/>
                    <a:pt x="93019" y="1307370"/>
                    <a:pt x="220252" y="1352346"/>
                  </a:cubicBezTo>
                  <a:close/>
                </a:path>
              </a:pathLst>
            </a:custGeom>
            <a:solidFill>
              <a:srgbClr val="004259"/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-57150"/>
              <a:ext cx="660400" cy="1301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744581" y="5619750"/>
            <a:ext cx="4286250" cy="2000250"/>
            <a:chOff x="0" y="0"/>
            <a:chExt cx="1128889" cy="526815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128889" cy="526815"/>
            </a:xfrm>
            <a:custGeom>
              <a:avLst/>
              <a:gdLst/>
              <a:ahLst/>
              <a:cxnLst/>
              <a:rect l="l" t="t" r="r" b="b"/>
              <a:pathLst>
                <a:path w="1128889" h="526815">
                  <a:moveTo>
                    <a:pt x="45156" y="0"/>
                  </a:moveTo>
                  <a:lnTo>
                    <a:pt x="1083733" y="0"/>
                  </a:lnTo>
                  <a:cubicBezTo>
                    <a:pt x="1108672" y="0"/>
                    <a:pt x="1128889" y="20217"/>
                    <a:pt x="1128889" y="45156"/>
                  </a:cubicBezTo>
                  <a:lnTo>
                    <a:pt x="1128889" y="481659"/>
                  </a:lnTo>
                  <a:cubicBezTo>
                    <a:pt x="1128889" y="506598"/>
                    <a:pt x="1108672" y="526815"/>
                    <a:pt x="1083733" y="526815"/>
                  </a:cubicBezTo>
                  <a:lnTo>
                    <a:pt x="45156" y="526815"/>
                  </a:lnTo>
                  <a:cubicBezTo>
                    <a:pt x="20217" y="526815"/>
                    <a:pt x="0" y="506598"/>
                    <a:pt x="0" y="481659"/>
                  </a:cubicBezTo>
                  <a:lnTo>
                    <a:pt x="0" y="45156"/>
                  </a:lnTo>
                  <a:cubicBezTo>
                    <a:pt x="0" y="20217"/>
                    <a:pt x="20217" y="0"/>
                    <a:pt x="451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1128889" cy="564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6030831" y="5676082"/>
            <a:ext cx="621222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rPr>
              <a:t>03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173206" y="5958205"/>
            <a:ext cx="3429000" cy="30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Marital Status Analysis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2173206" y="6417310"/>
            <a:ext cx="3429000" cy="82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US" sz="1600" dirty="0"/>
              <a:t>Single employees exhibit slightly higher attrition rates, while married employees demonstrate better retention.</a:t>
            </a:r>
            <a:endParaRPr lang="en-US" sz="1599" dirty="0">
              <a:solidFill>
                <a:srgbClr val="000000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3702048" y="1315178"/>
            <a:ext cx="1167765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Power BI Dashboard - Initial Findings &amp; Data Trend</a:t>
            </a:r>
            <a:endParaRPr lang="en-US" sz="3600" spc="862" dirty="0">
              <a:solidFill>
                <a:srgbClr val="00B050"/>
              </a:solidFill>
              <a:latin typeface="Arial" panose="020B0604020202020204" pitchFamily="34" charset="0"/>
              <a:ea typeface="Canva Sans" panose="020B0503030501040103"/>
              <a:cs typeface="Arial" panose="020B0604020202020204" pitchFamily="34" charset="0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08CD1-1E42-07B6-8F77-DE7EC9B09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4">
            <a:extLst>
              <a:ext uri="{FF2B5EF4-FFF2-40B4-BE49-F238E27FC236}">
                <a16:creationId xmlns:a16="http://schemas.microsoft.com/office/drawing/2014/main" id="{1C99CEE3-AEC2-E9A6-6375-BD0A282F6A35}"/>
              </a:ext>
            </a:extLst>
          </p:cNvPr>
          <p:cNvSpPr txBox="1"/>
          <p:nvPr/>
        </p:nvSpPr>
        <p:spPr>
          <a:xfrm>
            <a:off x="3449872" y="489780"/>
            <a:ext cx="10858500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Tableau Dashboard</a:t>
            </a:r>
            <a:endParaRPr lang="en-US" sz="5400" b="1" spc="862" dirty="0">
              <a:solidFill>
                <a:srgbClr val="00B050"/>
              </a:solidFill>
              <a:latin typeface="Arial" panose="020B0604020202020204" pitchFamily="34" charset="0"/>
              <a:ea typeface="Canva Sans" panose="020B0503030501040103"/>
              <a:cs typeface="Arial" panose="020B0604020202020204" pitchFamily="34" charset="0"/>
              <a:sym typeface="Canva Sans" panose="020B0503030501040103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B86368-2315-7E16-1E76-735DD4EFA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90" y="1268254"/>
            <a:ext cx="17186902" cy="88282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15629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86500" y="4709922"/>
            <a:ext cx="863868" cy="1566030"/>
          </a:xfrm>
          <a:custGeom>
            <a:avLst/>
            <a:gdLst/>
            <a:ahLst/>
            <a:cxnLst/>
            <a:rect l="l" t="t" r="r" b="b"/>
            <a:pathLst>
              <a:path w="863868" h="1566030">
                <a:moveTo>
                  <a:pt x="0" y="0"/>
                </a:moveTo>
                <a:lnTo>
                  <a:pt x="635268" y="0"/>
                </a:lnTo>
                <a:cubicBezTo>
                  <a:pt x="695897" y="0"/>
                  <a:pt x="754042" y="24085"/>
                  <a:pt x="796913" y="66955"/>
                </a:cubicBezTo>
                <a:cubicBezTo>
                  <a:pt x="839784" y="109826"/>
                  <a:pt x="863868" y="167972"/>
                  <a:pt x="863868" y="228600"/>
                </a:cubicBezTo>
                <a:lnTo>
                  <a:pt x="863868" y="1566030"/>
                </a:lnTo>
              </a:path>
            </a:pathLst>
          </a:custGeom>
          <a:ln w="47625" cap="rnd">
            <a:solidFill>
              <a:srgbClr val="C7D2D9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1064215" y="4709922"/>
            <a:ext cx="1054291" cy="1566030"/>
          </a:xfrm>
          <a:custGeom>
            <a:avLst/>
            <a:gdLst/>
            <a:ahLst/>
            <a:cxnLst/>
            <a:rect l="l" t="t" r="r" b="b"/>
            <a:pathLst>
              <a:path w="1054291" h="1566030">
                <a:moveTo>
                  <a:pt x="1054291" y="0"/>
                </a:moveTo>
                <a:lnTo>
                  <a:pt x="228600" y="0"/>
                </a:lnTo>
                <a:cubicBezTo>
                  <a:pt x="167971" y="0"/>
                  <a:pt x="109826" y="24085"/>
                  <a:pt x="66956" y="66955"/>
                </a:cubicBezTo>
                <a:cubicBezTo>
                  <a:pt x="24085" y="109826"/>
                  <a:pt x="0" y="167972"/>
                  <a:pt x="0" y="228600"/>
                </a:cubicBezTo>
                <a:lnTo>
                  <a:pt x="0" y="1566030"/>
                </a:lnTo>
              </a:path>
            </a:pathLst>
          </a:custGeom>
          <a:ln w="47625" cap="rnd">
            <a:solidFill>
              <a:srgbClr val="C7D2D9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7183184" y="3661490"/>
            <a:ext cx="3881031" cy="749425"/>
          </a:xfrm>
          <a:custGeom>
            <a:avLst/>
            <a:gdLst/>
            <a:ahLst/>
            <a:cxnLst/>
            <a:rect l="l" t="t" r="r" b="b"/>
            <a:pathLst>
              <a:path w="3881031" h="749425">
                <a:moveTo>
                  <a:pt x="0" y="0"/>
                </a:moveTo>
                <a:lnTo>
                  <a:pt x="3881031" y="0"/>
                </a:lnTo>
                <a:lnTo>
                  <a:pt x="3881031" y="749425"/>
                </a:lnTo>
                <a:lnTo>
                  <a:pt x="0" y="7494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5587"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9144000" y="3258141"/>
            <a:ext cx="0" cy="2260439"/>
          </a:xfrm>
          <a:prstGeom prst="line">
            <a:avLst/>
          </a:prstGeom>
          <a:ln w="47625" cap="rnd">
            <a:solidFill>
              <a:srgbClr val="C7D2D9"/>
            </a:solidFill>
            <a:prstDash val="lgDash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7223785" y="2019300"/>
            <a:ext cx="3840431" cy="2016902"/>
            <a:chOff x="0" y="0"/>
            <a:chExt cx="1011472" cy="5312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1471" cy="531201"/>
            </a:xfrm>
            <a:custGeom>
              <a:avLst/>
              <a:gdLst/>
              <a:ahLst/>
              <a:cxnLst/>
              <a:rect l="l" t="t" r="r" b="b"/>
              <a:pathLst>
                <a:path w="1011471" h="531201">
                  <a:moveTo>
                    <a:pt x="40318" y="0"/>
                  </a:moveTo>
                  <a:lnTo>
                    <a:pt x="971154" y="0"/>
                  </a:lnTo>
                  <a:cubicBezTo>
                    <a:pt x="981847" y="0"/>
                    <a:pt x="992102" y="4248"/>
                    <a:pt x="999663" y="11809"/>
                  </a:cubicBezTo>
                  <a:cubicBezTo>
                    <a:pt x="1007224" y="19370"/>
                    <a:pt x="1011471" y="29625"/>
                    <a:pt x="1011471" y="40318"/>
                  </a:cubicBezTo>
                  <a:lnTo>
                    <a:pt x="1011471" y="490883"/>
                  </a:lnTo>
                  <a:cubicBezTo>
                    <a:pt x="1011471" y="501576"/>
                    <a:pt x="1007224" y="511831"/>
                    <a:pt x="999663" y="519392"/>
                  </a:cubicBezTo>
                  <a:cubicBezTo>
                    <a:pt x="992102" y="526953"/>
                    <a:pt x="981847" y="531201"/>
                    <a:pt x="971154" y="531201"/>
                  </a:cubicBezTo>
                  <a:lnTo>
                    <a:pt x="40318" y="531201"/>
                  </a:lnTo>
                  <a:cubicBezTo>
                    <a:pt x="29625" y="531201"/>
                    <a:pt x="19370" y="526953"/>
                    <a:pt x="11809" y="519392"/>
                  </a:cubicBezTo>
                  <a:cubicBezTo>
                    <a:pt x="4248" y="511831"/>
                    <a:pt x="0" y="501576"/>
                    <a:pt x="0" y="490883"/>
                  </a:cubicBezTo>
                  <a:lnTo>
                    <a:pt x="0" y="40318"/>
                  </a:lnTo>
                  <a:cubicBezTo>
                    <a:pt x="0" y="29625"/>
                    <a:pt x="4248" y="19370"/>
                    <a:pt x="11809" y="11809"/>
                  </a:cubicBezTo>
                  <a:cubicBezTo>
                    <a:pt x="19370" y="4248"/>
                    <a:pt x="29625" y="0"/>
                    <a:pt x="403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11472" cy="569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858250" y="3750452"/>
            <a:ext cx="571500" cy="57150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B80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2119787" y="5333492"/>
            <a:ext cx="3881031" cy="749425"/>
          </a:xfrm>
          <a:custGeom>
            <a:avLst/>
            <a:gdLst/>
            <a:ahLst/>
            <a:cxnLst/>
            <a:rect l="l" t="t" r="r" b="b"/>
            <a:pathLst>
              <a:path w="3881031" h="749425">
                <a:moveTo>
                  <a:pt x="0" y="0"/>
                </a:moveTo>
                <a:lnTo>
                  <a:pt x="3881031" y="0"/>
                </a:lnTo>
                <a:lnTo>
                  <a:pt x="3881031" y="749425"/>
                </a:lnTo>
                <a:lnTo>
                  <a:pt x="0" y="7494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5587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1834037" y="3733800"/>
            <a:ext cx="4166781" cy="1952244"/>
            <a:chOff x="0" y="0"/>
            <a:chExt cx="5555708" cy="2602993"/>
          </a:xfrm>
        </p:grpSpPr>
        <p:grpSp>
          <p:nvGrpSpPr>
            <p:cNvPr id="15" name="Group 15"/>
            <p:cNvGrpSpPr/>
            <p:nvPr/>
          </p:nvGrpSpPr>
          <p:grpSpPr>
            <a:xfrm>
              <a:off x="381000" y="0"/>
              <a:ext cx="5174708" cy="2602993"/>
              <a:chOff x="0" y="0"/>
              <a:chExt cx="1022165" cy="51417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022165" cy="514171"/>
              </a:xfrm>
              <a:custGeom>
                <a:avLst/>
                <a:gdLst/>
                <a:ahLst/>
                <a:cxnLst/>
                <a:rect l="l" t="t" r="r" b="b"/>
                <a:pathLst>
                  <a:path w="1022165" h="514171">
                    <a:moveTo>
                      <a:pt x="39896" y="0"/>
                    </a:moveTo>
                    <a:lnTo>
                      <a:pt x="982268" y="0"/>
                    </a:lnTo>
                    <a:cubicBezTo>
                      <a:pt x="1004302" y="0"/>
                      <a:pt x="1022165" y="17862"/>
                      <a:pt x="1022165" y="39896"/>
                    </a:cubicBezTo>
                    <a:lnTo>
                      <a:pt x="1022165" y="474275"/>
                    </a:lnTo>
                    <a:cubicBezTo>
                      <a:pt x="1022165" y="496309"/>
                      <a:pt x="1004302" y="514171"/>
                      <a:pt x="982268" y="514171"/>
                    </a:cubicBezTo>
                    <a:lnTo>
                      <a:pt x="39896" y="514171"/>
                    </a:lnTo>
                    <a:cubicBezTo>
                      <a:pt x="17862" y="514171"/>
                      <a:pt x="0" y="496309"/>
                      <a:pt x="0" y="474275"/>
                    </a:cubicBezTo>
                    <a:lnTo>
                      <a:pt x="0" y="39896"/>
                    </a:lnTo>
                    <a:cubicBezTo>
                      <a:pt x="0" y="17862"/>
                      <a:pt x="17862" y="0"/>
                      <a:pt x="3989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022165" cy="5522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920496"/>
              <a:ext cx="762000" cy="762000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259"/>
              </a:solidFill>
              <a:ln w="762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059"/>
                  </a:lnSpc>
                  <a:spcBef>
                    <a:spcPct val="0"/>
                  </a:spcBef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1158604" y="431969"/>
              <a:ext cx="4000500" cy="399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2000" b="1" dirty="0">
                  <a:solidFill>
                    <a:srgbClr val="0D1B3E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Marital Status Split</a:t>
              </a:r>
              <a:endPara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8604" y="1044110"/>
              <a:ext cx="4000500" cy="14806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Workforce is nearly evenly split: Single 16,703 · Married 16,681 · Divorced 16,616. No dominant group.</a:t>
              </a:r>
              <a:endParaRPr lang="en-US" sz="1599" dirty="0">
                <a:latin typeface="Arial" panose="020B0604020202020204" pitchFamily="34" charset="0"/>
                <a:ea typeface="Proxima Nova"/>
                <a:cs typeface="Arial" panose="020B0604020202020204" pitchFamily="34" charset="0"/>
                <a:sym typeface="Proxima Nova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001500" y="6734555"/>
            <a:ext cx="5334000" cy="1962723"/>
            <a:chOff x="0" y="0"/>
            <a:chExt cx="7112000" cy="2602993"/>
          </a:xfrm>
        </p:grpSpPr>
        <p:sp>
          <p:nvSpPr>
            <p:cNvPr id="24" name="AutoShape 24"/>
            <p:cNvSpPr/>
            <p:nvPr/>
          </p:nvSpPr>
          <p:spPr>
            <a:xfrm>
              <a:off x="0" y="1301496"/>
              <a:ext cx="1878599" cy="0"/>
            </a:xfrm>
            <a:prstGeom prst="line">
              <a:avLst/>
            </a:prstGeom>
            <a:ln w="63500" cap="rnd">
              <a:solidFill>
                <a:srgbClr val="C7D2D9"/>
              </a:solidFill>
              <a:prstDash val="lgDash"/>
              <a:headEnd type="none" w="sm" len="sm"/>
              <a:tailEnd type="none" w="sm" len="sm"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1937292" y="0"/>
              <a:ext cx="5174708" cy="2602993"/>
              <a:chOff x="0" y="0"/>
              <a:chExt cx="1022165" cy="51417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022165" cy="514171"/>
              </a:xfrm>
              <a:custGeom>
                <a:avLst/>
                <a:gdLst/>
                <a:ahLst/>
                <a:cxnLst/>
                <a:rect l="l" t="t" r="r" b="b"/>
                <a:pathLst>
                  <a:path w="1022165" h="514171">
                    <a:moveTo>
                      <a:pt x="39896" y="0"/>
                    </a:moveTo>
                    <a:lnTo>
                      <a:pt x="982268" y="0"/>
                    </a:lnTo>
                    <a:cubicBezTo>
                      <a:pt x="1004302" y="0"/>
                      <a:pt x="1022165" y="17862"/>
                      <a:pt x="1022165" y="39896"/>
                    </a:cubicBezTo>
                    <a:lnTo>
                      <a:pt x="1022165" y="474275"/>
                    </a:lnTo>
                    <a:cubicBezTo>
                      <a:pt x="1022165" y="496309"/>
                      <a:pt x="1004302" y="514171"/>
                      <a:pt x="982268" y="514171"/>
                    </a:cubicBezTo>
                    <a:lnTo>
                      <a:pt x="39896" y="514171"/>
                    </a:lnTo>
                    <a:cubicBezTo>
                      <a:pt x="17862" y="514171"/>
                      <a:pt x="0" y="496309"/>
                      <a:pt x="0" y="474275"/>
                    </a:cubicBezTo>
                    <a:lnTo>
                      <a:pt x="0" y="39896"/>
                    </a:lnTo>
                    <a:cubicBezTo>
                      <a:pt x="0" y="17862"/>
                      <a:pt x="17862" y="0"/>
                      <a:pt x="3989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022165" cy="5522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556292" y="920496"/>
              <a:ext cx="762000" cy="762000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38"/>
              </a:solidFill>
              <a:ln w="762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059"/>
                  </a:lnSpc>
                  <a:spcBef>
                    <a:spcPct val="0"/>
                  </a:spcBef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2714896" y="431970"/>
              <a:ext cx="40005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1" dirty="0">
                  <a:solidFill>
                    <a:srgbClr val="000000"/>
                  </a:solidFill>
                  <a:latin typeface="Arial" panose="020B0604020202020204" pitchFamily="34" charset="0"/>
                  <a:ea typeface="Proxima Nova Bold"/>
                  <a:cs typeface="Arial" panose="020B0604020202020204" pitchFamily="34" charset="0"/>
                  <a:sym typeface="Proxima Nova Bold"/>
                </a:rPr>
                <a:t>Workforce Overview</a:t>
              </a:r>
              <a:endPara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Proxima Nova Bold"/>
                <a:cs typeface="Arial" panose="020B0604020202020204" pitchFamily="34" charset="0"/>
                <a:sym typeface="Proxima Nova Bold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286000" y="972492"/>
              <a:ext cx="4706667" cy="14650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 dirty="0">
                  <a:latin typeface="Arial" panose="020B0604020202020204" pitchFamily="34" charset="0"/>
                  <a:ea typeface="Proxima Nova"/>
                  <a:cs typeface="Arial" panose="020B0604020202020204" pitchFamily="34" charset="0"/>
                  <a:sym typeface="Proxima Nova"/>
                </a:rPr>
                <a:t>The organization has 50,000 employees, with 25,105 employees leaving, resulting in an overall attrition rate of 50.21%.</a:t>
              </a:r>
            </a:p>
          </p:txBody>
        </p:sp>
      </p:grpSp>
      <p:sp>
        <p:nvSpPr>
          <p:cNvPr id="33" name="AutoShape 33"/>
          <p:cNvSpPr/>
          <p:nvPr/>
        </p:nvSpPr>
        <p:spPr>
          <a:xfrm>
            <a:off x="4582524" y="7710678"/>
            <a:ext cx="1703976" cy="0"/>
          </a:xfrm>
          <a:prstGeom prst="line">
            <a:avLst/>
          </a:prstGeom>
          <a:ln w="47625" cap="rnd">
            <a:solidFill>
              <a:srgbClr val="C7D2D9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35" name="Freeform 35"/>
          <p:cNvSpPr/>
          <p:nvPr/>
        </p:nvSpPr>
        <p:spPr>
          <a:xfrm>
            <a:off x="2284228" y="5333492"/>
            <a:ext cx="3881031" cy="749425"/>
          </a:xfrm>
          <a:custGeom>
            <a:avLst/>
            <a:gdLst/>
            <a:ahLst/>
            <a:cxnLst/>
            <a:rect l="l" t="t" r="r" b="b"/>
            <a:pathLst>
              <a:path w="3881031" h="749425">
                <a:moveTo>
                  <a:pt x="0" y="0"/>
                </a:moveTo>
                <a:lnTo>
                  <a:pt x="3881031" y="0"/>
                </a:lnTo>
                <a:lnTo>
                  <a:pt x="3881031" y="749425"/>
                </a:lnTo>
                <a:lnTo>
                  <a:pt x="0" y="7494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5587"/>
            </a:stretch>
          </a:blipFill>
        </p:spPr>
      </p:sp>
      <p:grpSp>
        <p:nvGrpSpPr>
          <p:cNvPr id="36" name="Group 36"/>
          <p:cNvGrpSpPr/>
          <p:nvPr/>
        </p:nvGrpSpPr>
        <p:grpSpPr>
          <a:xfrm>
            <a:off x="955205" y="6734556"/>
            <a:ext cx="3881031" cy="1952244"/>
            <a:chOff x="0" y="0"/>
            <a:chExt cx="1022165" cy="51417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22165" cy="514171"/>
            </a:xfrm>
            <a:custGeom>
              <a:avLst/>
              <a:gdLst/>
              <a:ahLst/>
              <a:cxnLst/>
              <a:rect l="l" t="t" r="r" b="b"/>
              <a:pathLst>
                <a:path w="1022165" h="514171">
                  <a:moveTo>
                    <a:pt x="39896" y="0"/>
                  </a:moveTo>
                  <a:lnTo>
                    <a:pt x="982268" y="0"/>
                  </a:lnTo>
                  <a:cubicBezTo>
                    <a:pt x="1004302" y="0"/>
                    <a:pt x="1022165" y="17862"/>
                    <a:pt x="1022165" y="39896"/>
                  </a:cubicBezTo>
                  <a:lnTo>
                    <a:pt x="1022165" y="474275"/>
                  </a:lnTo>
                  <a:cubicBezTo>
                    <a:pt x="1022165" y="496309"/>
                    <a:pt x="1004302" y="514171"/>
                    <a:pt x="982268" y="514171"/>
                  </a:cubicBezTo>
                  <a:lnTo>
                    <a:pt x="39896" y="514171"/>
                  </a:lnTo>
                  <a:cubicBezTo>
                    <a:pt x="17862" y="514171"/>
                    <a:pt x="0" y="496309"/>
                    <a:pt x="0" y="474275"/>
                  </a:cubicBezTo>
                  <a:lnTo>
                    <a:pt x="0" y="39896"/>
                  </a:lnTo>
                  <a:cubicBezTo>
                    <a:pt x="0" y="17862"/>
                    <a:pt x="17862" y="0"/>
                    <a:pt x="398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022165" cy="552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550486" y="7424928"/>
            <a:ext cx="571500" cy="571500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E11B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284228" y="3733800"/>
            <a:ext cx="3881031" cy="1952244"/>
            <a:chOff x="0" y="0"/>
            <a:chExt cx="1022165" cy="51417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22165" cy="514171"/>
            </a:xfrm>
            <a:custGeom>
              <a:avLst/>
              <a:gdLst/>
              <a:ahLst/>
              <a:cxnLst/>
              <a:rect l="l" t="t" r="r" b="b"/>
              <a:pathLst>
                <a:path w="1022165" h="514171">
                  <a:moveTo>
                    <a:pt x="39896" y="0"/>
                  </a:moveTo>
                  <a:lnTo>
                    <a:pt x="982268" y="0"/>
                  </a:lnTo>
                  <a:cubicBezTo>
                    <a:pt x="1004302" y="0"/>
                    <a:pt x="1022165" y="17862"/>
                    <a:pt x="1022165" y="39896"/>
                  </a:cubicBezTo>
                  <a:lnTo>
                    <a:pt x="1022165" y="474275"/>
                  </a:lnTo>
                  <a:cubicBezTo>
                    <a:pt x="1022165" y="496309"/>
                    <a:pt x="1004302" y="514171"/>
                    <a:pt x="982268" y="514171"/>
                  </a:cubicBezTo>
                  <a:lnTo>
                    <a:pt x="39896" y="514171"/>
                  </a:lnTo>
                  <a:cubicBezTo>
                    <a:pt x="17862" y="514171"/>
                    <a:pt x="0" y="496309"/>
                    <a:pt x="0" y="474275"/>
                  </a:cubicBezTo>
                  <a:lnTo>
                    <a:pt x="0" y="39896"/>
                  </a:lnTo>
                  <a:cubicBezTo>
                    <a:pt x="0" y="17862"/>
                    <a:pt x="17862" y="0"/>
                    <a:pt x="398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1022165" cy="552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879509" y="4424172"/>
            <a:ext cx="571500" cy="571500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267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2581681" y="4507357"/>
            <a:ext cx="3000375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Mid-income (20K–40K) employees have the lowest attrition (49.98%), while high earners (&gt;40K) exit most (50.89%).</a:t>
            </a:r>
            <a:endParaRPr lang="en-US" sz="1600" dirty="0"/>
          </a:p>
        </p:txBody>
      </p:sp>
      <p:sp>
        <p:nvSpPr>
          <p:cNvPr id="49" name="Freeform 49"/>
          <p:cNvSpPr/>
          <p:nvPr/>
        </p:nvSpPr>
        <p:spPr>
          <a:xfrm>
            <a:off x="5375285" y="4914900"/>
            <a:ext cx="7537430" cy="4097621"/>
          </a:xfrm>
          <a:custGeom>
            <a:avLst/>
            <a:gdLst/>
            <a:ahLst/>
            <a:cxnLst/>
            <a:rect l="l" t="t" r="r" b="b"/>
            <a:pathLst>
              <a:path w="7537430" h="4097621">
                <a:moveTo>
                  <a:pt x="0" y="0"/>
                </a:moveTo>
                <a:lnTo>
                  <a:pt x="7537430" y="0"/>
                </a:lnTo>
                <a:lnTo>
                  <a:pt x="7537430" y="4097622"/>
                </a:lnTo>
                <a:lnTo>
                  <a:pt x="0" y="40976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5785519" y="7382349"/>
            <a:ext cx="460963" cy="666750"/>
          </a:xfrm>
          <a:custGeom>
            <a:avLst/>
            <a:gdLst/>
            <a:ahLst/>
            <a:cxnLst/>
            <a:rect l="l" t="t" r="r" b="b"/>
            <a:pathLst>
              <a:path w="460963" h="666750">
                <a:moveTo>
                  <a:pt x="0" y="0"/>
                </a:moveTo>
                <a:lnTo>
                  <a:pt x="460963" y="0"/>
                </a:lnTo>
                <a:lnTo>
                  <a:pt x="460963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1" name="Freeform 51"/>
          <p:cNvSpPr/>
          <p:nvPr/>
        </p:nvSpPr>
        <p:spPr>
          <a:xfrm>
            <a:off x="6816993" y="593023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2" name="Freeform 52"/>
          <p:cNvSpPr/>
          <p:nvPr/>
        </p:nvSpPr>
        <p:spPr>
          <a:xfrm>
            <a:off x="8810625" y="5333492"/>
            <a:ext cx="666750" cy="568556"/>
          </a:xfrm>
          <a:custGeom>
            <a:avLst/>
            <a:gdLst/>
            <a:ahLst/>
            <a:cxnLst/>
            <a:rect l="l" t="t" r="r" b="b"/>
            <a:pathLst>
              <a:path w="666750" h="568556">
                <a:moveTo>
                  <a:pt x="0" y="0"/>
                </a:moveTo>
                <a:lnTo>
                  <a:pt x="666750" y="0"/>
                </a:lnTo>
                <a:lnTo>
                  <a:pt x="666750" y="568556"/>
                </a:lnTo>
                <a:lnTo>
                  <a:pt x="0" y="5685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3" name="Freeform 53"/>
          <p:cNvSpPr/>
          <p:nvPr/>
        </p:nvSpPr>
        <p:spPr>
          <a:xfrm>
            <a:off x="10756471" y="5931442"/>
            <a:ext cx="666750" cy="664325"/>
          </a:xfrm>
          <a:custGeom>
            <a:avLst/>
            <a:gdLst/>
            <a:ahLst/>
            <a:cxnLst/>
            <a:rect l="l" t="t" r="r" b="b"/>
            <a:pathLst>
              <a:path w="666750" h="664325">
                <a:moveTo>
                  <a:pt x="0" y="0"/>
                </a:moveTo>
                <a:lnTo>
                  <a:pt x="666750" y="0"/>
                </a:lnTo>
                <a:lnTo>
                  <a:pt x="666750" y="664325"/>
                </a:lnTo>
                <a:lnTo>
                  <a:pt x="0" y="664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4" name="Freeform 54"/>
          <p:cNvSpPr/>
          <p:nvPr/>
        </p:nvSpPr>
        <p:spPr>
          <a:xfrm>
            <a:off x="12001500" y="7382349"/>
            <a:ext cx="488546" cy="666750"/>
          </a:xfrm>
          <a:custGeom>
            <a:avLst/>
            <a:gdLst/>
            <a:ahLst/>
            <a:cxnLst/>
            <a:rect l="l" t="t" r="r" b="b"/>
            <a:pathLst>
              <a:path w="488546" h="666750">
                <a:moveTo>
                  <a:pt x="0" y="0"/>
                </a:moveTo>
                <a:lnTo>
                  <a:pt x="488546" y="0"/>
                </a:lnTo>
                <a:lnTo>
                  <a:pt x="488546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5" name="TextBox 55"/>
          <p:cNvSpPr txBox="1"/>
          <p:nvPr/>
        </p:nvSpPr>
        <p:spPr>
          <a:xfrm>
            <a:off x="7643812" y="2283602"/>
            <a:ext cx="3000375" cy="30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D1B3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Work-Life Balance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7643813" y="2742707"/>
            <a:ext cx="3000375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Reps lead WLB score at 2.52. Manufacturing Directors lag at 2.46. Scores are tightly clustered (2.46–2.52).</a:t>
            </a:r>
            <a:endParaRPr lang="en-US" sz="1600" dirty="0"/>
          </a:p>
        </p:txBody>
      </p:sp>
      <p:sp>
        <p:nvSpPr>
          <p:cNvPr id="57" name="TextBox 57"/>
          <p:cNvSpPr txBox="1"/>
          <p:nvPr/>
        </p:nvSpPr>
        <p:spPr>
          <a:xfrm>
            <a:off x="2581681" y="4048252"/>
            <a:ext cx="3000375" cy="30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D1B3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Income vs Retention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252658" y="7049008"/>
            <a:ext cx="3000375" cy="29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D1B3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Critical Attrition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1252658" y="7508113"/>
            <a:ext cx="3000375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50.21% attrition rate — over half the workforce has left. Research &amp; Development has the highest rate at 51.21%.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3946922" y="1072202"/>
            <a:ext cx="10858500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Tableau Dashboard - Initial Findings &amp; Data Trend</a:t>
            </a:r>
            <a:endParaRPr lang="en-US" sz="3600" spc="862" dirty="0">
              <a:solidFill>
                <a:srgbClr val="00B050"/>
              </a:solidFill>
              <a:latin typeface="Arial" panose="020B0604020202020204" pitchFamily="34" charset="0"/>
              <a:ea typeface="Canva Sans" panose="020B0503030501040103"/>
              <a:cs typeface="Arial" panose="020B0604020202020204" pitchFamily="34" charset="0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74368-0D94-62F6-67CC-6F195003E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4">
            <a:extLst>
              <a:ext uri="{FF2B5EF4-FFF2-40B4-BE49-F238E27FC236}">
                <a16:creationId xmlns:a16="http://schemas.microsoft.com/office/drawing/2014/main" id="{77C9EF47-A96E-98EB-8704-2C4EF60B05A6}"/>
              </a:ext>
            </a:extLst>
          </p:cNvPr>
          <p:cNvSpPr txBox="1"/>
          <p:nvPr/>
        </p:nvSpPr>
        <p:spPr>
          <a:xfrm>
            <a:off x="3449872" y="489780"/>
            <a:ext cx="10858500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SQL Queries</a:t>
            </a:r>
            <a:endParaRPr lang="en-US" sz="5400" b="1" spc="862" dirty="0">
              <a:solidFill>
                <a:srgbClr val="00B050"/>
              </a:solidFill>
              <a:latin typeface="Arial" panose="020B0604020202020204" pitchFamily="34" charset="0"/>
              <a:ea typeface="Canva Sans" panose="020B0503030501040103"/>
              <a:cs typeface="Arial" panose="020B0604020202020204" pitchFamily="34" charset="0"/>
              <a:sym typeface="Canva Sans" panose="020B0503030501040103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19CCE0-DF8E-A41D-2057-B6C0B0744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680082"/>
            <a:ext cx="10972800" cy="386367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694149-2158-2D60-9E1E-8473C15BF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459" y="5907825"/>
            <a:ext cx="10874682" cy="3894157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387146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226F18-7C15-FA2D-7852-4C7A51F3092B}"/>
              </a:ext>
            </a:extLst>
          </p:cNvPr>
          <p:cNvSpPr/>
          <p:nvPr/>
        </p:nvSpPr>
        <p:spPr>
          <a:xfrm>
            <a:off x="976664" y="2400300"/>
            <a:ext cx="4229709" cy="7391400"/>
          </a:xfrm>
          <a:custGeom>
            <a:avLst/>
            <a:gdLst/>
            <a:ahLst/>
            <a:cxnLst/>
            <a:rect l="l" t="t" r="r" b="b"/>
            <a:pathLst>
              <a:path w="4229709" h="5674000">
                <a:moveTo>
                  <a:pt x="0" y="0"/>
                </a:moveTo>
                <a:lnTo>
                  <a:pt x="4229709" y="0"/>
                </a:lnTo>
                <a:lnTo>
                  <a:pt x="4229709" y="5674000"/>
                </a:lnTo>
                <a:lnTo>
                  <a:pt x="0" y="567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CD49CDD-00C9-A6FD-E040-2EC0A2629BE7}"/>
              </a:ext>
            </a:extLst>
          </p:cNvPr>
          <p:cNvSpPr txBox="1"/>
          <p:nvPr/>
        </p:nvSpPr>
        <p:spPr>
          <a:xfrm>
            <a:off x="2332374" y="1181100"/>
            <a:ext cx="13026183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SQL - Initial Findings &amp; Data Trend</a:t>
            </a:r>
            <a:endParaRPr lang="en-US" sz="3600" spc="862" dirty="0">
              <a:solidFill>
                <a:srgbClr val="00B050"/>
              </a:solidFill>
              <a:latin typeface="Arial" panose="020B0604020202020204" pitchFamily="34" charset="0"/>
              <a:ea typeface="Canva Sans" panose="020B0503030501040103"/>
              <a:cs typeface="Arial" panose="020B0604020202020204" pitchFamily="34" charset="0"/>
              <a:sym typeface="Canva Sans" panose="020B0503030501040103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6A30D3E-ECB0-660C-6126-AC8FC12EAD86}"/>
              </a:ext>
            </a:extLst>
          </p:cNvPr>
          <p:cNvSpPr txBox="1"/>
          <p:nvPr/>
        </p:nvSpPr>
        <p:spPr>
          <a:xfrm>
            <a:off x="1512072" y="2758790"/>
            <a:ext cx="1786683" cy="784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Arial" panose="020B0604020202020204" pitchFamily="34" charset="0"/>
                <a:ea typeface="DM Sans Bold"/>
                <a:cs typeface="Arial" panose="020B0604020202020204" pitchFamily="34" charset="0"/>
                <a:sym typeface="DM Sans Bold"/>
              </a:rPr>
              <a:t>01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13E75C0-C1FB-3B85-1A11-1D815E7E51EC}"/>
              </a:ext>
            </a:extLst>
          </p:cNvPr>
          <p:cNvSpPr txBox="1"/>
          <p:nvPr/>
        </p:nvSpPr>
        <p:spPr>
          <a:xfrm>
            <a:off x="9637643" y="3278188"/>
            <a:ext cx="1786683" cy="784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FFFFFF"/>
                </a:solidFill>
                <a:latin typeface="Arial" panose="020B0604020202020204" pitchFamily="34" charset="0"/>
                <a:ea typeface="DM Sans Bold"/>
                <a:cs typeface="Arial" panose="020B0604020202020204" pitchFamily="34" charset="0"/>
                <a:sym typeface="DM Sans Bold"/>
              </a:rPr>
              <a:t>05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3C4D8BE-F02C-8791-BC5D-CF67B6479B09}"/>
              </a:ext>
            </a:extLst>
          </p:cNvPr>
          <p:cNvSpPr txBox="1"/>
          <p:nvPr/>
        </p:nvSpPr>
        <p:spPr>
          <a:xfrm>
            <a:off x="1922223" y="4739990"/>
            <a:ext cx="1786683" cy="784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Arial" panose="020B0604020202020204" pitchFamily="34" charset="0"/>
                <a:ea typeface="DM Sans Bold"/>
                <a:cs typeface="Arial" panose="020B0604020202020204" pitchFamily="34" charset="0"/>
                <a:sym typeface="DM Sans Bold"/>
              </a:rPr>
              <a:t>02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AEF137A-BEC1-58C4-9235-D75DF488ECC6}"/>
              </a:ext>
            </a:extLst>
          </p:cNvPr>
          <p:cNvSpPr txBox="1"/>
          <p:nvPr/>
        </p:nvSpPr>
        <p:spPr>
          <a:xfrm>
            <a:off x="10047794" y="4696460"/>
            <a:ext cx="1786683" cy="784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FFFFFF"/>
                </a:solidFill>
                <a:latin typeface="Arial" panose="020B0604020202020204" pitchFamily="34" charset="0"/>
                <a:ea typeface="DM Sans Bold"/>
                <a:cs typeface="Arial" panose="020B0604020202020204" pitchFamily="34" charset="0"/>
                <a:sym typeface="DM Sans Bold"/>
              </a:rPr>
              <a:t>06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24053BF-E297-4C81-71F7-82B67B1CAF14}"/>
              </a:ext>
            </a:extLst>
          </p:cNvPr>
          <p:cNvSpPr txBox="1"/>
          <p:nvPr/>
        </p:nvSpPr>
        <p:spPr>
          <a:xfrm>
            <a:off x="2332374" y="6644990"/>
            <a:ext cx="1786683" cy="784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Arial" panose="020B0604020202020204" pitchFamily="34" charset="0"/>
                <a:ea typeface="DM Sans Bold"/>
                <a:cs typeface="Arial" panose="020B0604020202020204" pitchFamily="34" charset="0"/>
                <a:sym typeface="DM Sans Bold"/>
              </a:rPr>
              <a:t>03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118800F-21D0-1BB7-20C3-F3B9CE64AECB}"/>
              </a:ext>
            </a:extLst>
          </p:cNvPr>
          <p:cNvSpPr txBox="1"/>
          <p:nvPr/>
        </p:nvSpPr>
        <p:spPr>
          <a:xfrm>
            <a:off x="10457945" y="6179979"/>
            <a:ext cx="1786683" cy="784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FFFFFF"/>
                </a:solidFill>
                <a:latin typeface="Arial" panose="020B0604020202020204" pitchFamily="34" charset="0"/>
                <a:ea typeface="DM Sans Bold"/>
                <a:cs typeface="Arial" panose="020B0604020202020204" pitchFamily="34" charset="0"/>
                <a:sym typeface="DM Sans Bold"/>
              </a:rPr>
              <a:t>07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3F1EA74-5A18-3E14-F731-611A982679C8}"/>
              </a:ext>
            </a:extLst>
          </p:cNvPr>
          <p:cNvSpPr txBox="1"/>
          <p:nvPr/>
        </p:nvSpPr>
        <p:spPr>
          <a:xfrm>
            <a:off x="2742525" y="8549990"/>
            <a:ext cx="1786683" cy="784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Arial" panose="020B0604020202020204" pitchFamily="34" charset="0"/>
                <a:ea typeface="DM Sans Bold"/>
                <a:cs typeface="Arial" panose="020B0604020202020204" pitchFamily="34" charset="0"/>
                <a:sym typeface="DM Sans Bold"/>
              </a:rPr>
              <a:t>04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A680CBF-1A6A-6E4C-E29D-0982876ABE3D}"/>
              </a:ext>
            </a:extLst>
          </p:cNvPr>
          <p:cNvSpPr txBox="1"/>
          <p:nvPr/>
        </p:nvSpPr>
        <p:spPr>
          <a:xfrm>
            <a:off x="10868096" y="7667784"/>
            <a:ext cx="1786683" cy="784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FFFFFF"/>
                </a:solidFill>
                <a:latin typeface="Arial" panose="020B0604020202020204" pitchFamily="34" charset="0"/>
                <a:ea typeface="DM Sans Bold"/>
                <a:cs typeface="Arial" panose="020B0604020202020204" pitchFamily="34" charset="0"/>
                <a:sym typeface="DM Sans Bold"/>
              </a:rPr>
              <a:t>08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79CF979-B993-3D7E-EC9E-E7F627564ABD}"/>
              </a:ext>
            </a:extLst>
          </p:cNvPr>
          <p:cNvSpPr txBox="1"/>
          <p:nvPr/>
        </p:nvSpPr>
        <p:spPr>
          <a:xfrm>
            <a:off x="5468091" y="8050511"/>
            <a:ext cx="3587434" cy="29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DM Sans Bold"/>
                <a:cs typeface="Arial" panose="020B0604020202020204" pitchFamily="34" charset="0"/>
                <a:sym typeface="DM Sans Bold"/>
              </a:rPr>
              <a:t>Over-time Attrition Rate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26D4A81-3DD2-780F-AF19-FED6DD2A4F52}"/>
              </a:ext>
            </a:extLst>
          </p:cNvPr>
          <p:cNvSpPr txBox="1"/>
          <p:nvPr/>
        </p:nvSpPr>
        <p:spPr>
          <a:xfrm>
            <a:off x="5192959" y="6102826"/>
            <a:ext cx="6641518" cy="2930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DM Sans Bold"/>
                <a:cs typeface="Arial" panose="020B0604020202020204" pitchFamily="34" charset="0"/>
                <a:sym typeface="DM Sans Bold"/>
              </a:rPr>
              <a:t>Divorced Male Vs Female Attrition Rate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ea typeface="DM Sans Bold"/>
              <a:cs typeface="Arial" panose="020B0604020202020204" pitchFamily="34" charset="0"/>
              <a:sym typeface="DM Sans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A2C7C77-FD69-23BC-FEC8-53DC4D68A657}"/>
              </a:ext>
            </a:extLst>
          </p:cNvPr>
          <p:cNvSpPr txBox="1"/>
          <p:nvPr/>
        </p:nvSpPr>
        <p:spPr>
          <a:xfrm>
            <a:off x="5230185" y="8452294"/>
            <a:ext cx="10637590" cy="1104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  <a:sym typeface="DM Sans"/>
              </a:rPr>
              <a:t>For Married Males In R&amp;D Department Salary&gt;40k And Didn't Got Promoted In Less Than 2yrs Their Attrition Difference Over-time Vs Non Over-time Is 30% </a:t>
            </a:r>
          </a:p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  <a:sym typeface="DM Sans"/>
              </a:rPr>
              <a:t>For Divorced Males In R&amp;D Department Salary&lt;10k And Didn't Got Promoted Between 4 To 8yrs Their Attrition Difference Over-time Vs Non Over-time Is 30%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473B79E-1F68-ACB7-E23F-A6A8428FBAAA}"/>
              </a:ext>
            </a:extLst>
          </p:cNvPr>
          <p:cNvSpPr txBox="1"/>
          <p:nvPr/>
        </p:nvSpPr>
        <p:spPr>
          <a:xfrm>
            <a:off x="4904293" y="6428163"/>
            <a:ext cx="12073683" cy="1386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  <a:sym typeface="DM Sans"/>
              </a:rPr>
              <a:t>Divorced Male Who Are Doing Over-time And Who Didn't Got Promoted In Between 4 To 8 Yrs For Salary Less Than 10k In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  <a:sym typeface="DM Sans"/>
              </a:rPr>
              <a:t>R&amp;d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  <a:sym typeface="DM Sans"/>
              </a:rPr>
              <a:t> Department Their Attrition Rate Is  78% And Who Are Not Doing Overtime</a:t>
            </a:r>
          </a:p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  <a:sym typeface="DM Sans"/>
              </a:rPr>
              <a:t>Their Attrition Rate Is 48% (It’s a Huge Difference Of 30%) But For Same Males In Hardware Department Their Attrition Rate Is 20%</a:t>
            </a:r>
          </a:p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  <a:sym typeface="DM Sans"/>
              </a:rPr>
              <a:t>Divorced Females Who Are Not Doing Over-time Salary Between 11k To 20k And Didn't Got Promoted In Less Than 2yrs Their Attrition Rate Is 77% In R&amp;D Department 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E749A77B-6389-E016-FA57-2F2C850554EA}"/>
              </a:ext>
            </a:extLst>
          </p:cNvPr>
          <p:cNvSpPr txBox="1"/>
          <p:nvPr/>
        </p:nvSpPr>
        <p:spPr>
          <a:xfrm>
            <a:off x="4572000" y="4076700"/>
            <a:ext cx="6560891" cy="2930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DM Sans Bold"/>
                <a:cs typeface="Arial" panose="020B0604020202020204" pitchFamily="34" charset="0"/>
                <a:sym typeface="DM Sans Bold"/>
              </a:rPr>
              <a:t>Married Male Vs Female Attrition Rate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ea typeface="DM Sans Bold"/>
              <a:cs typeface="Arial" panose="020B0604020202020204" pitchFamily="34" charset="0"/>
              <a:sym typeface="DM Sans Bold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2A9A823-C98C-AA7A-8261-E1910562C1E8}"/>
              </a:ext>
            </a:extLst>
          </p:cNvPr>
          <p:cNvSpPr txBox="1"/>
          <p:nvPr/>
        </p:nvSpPr>
        <p:spPr>
          <a:xfrm>
            <a:off x="4495800" y="4457700"/>
            <a:ext cx="12770841" cy="1386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  <a:sym typeface="DM Sans"/>
              </a:rPr>
              <a:t>Married Male Who Are Doing Over-time And Didn't Got Promoted In Less Than 2yrs And Whose Salary Is Greater Than 40k Their Attrition Rate Is More Than 75% In R&amp;D Department Reason Is They Are Doing Over-time Because Attrition Rate Is Around 46% For The Same Who Are Not Doing Over-time(Huge Difference Of Around 30% ).</a:t>
            </a:r>
          </a:p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  <a:sym typeface="DM Sans"/>
              </a:rPr>
              <a:t>Married Female Who Are Doing Over-time Their Attrition Rate Is Very High 54.40% In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  <a:sym typeface="DM Sans"/>
              </a:rPr>
              <a:t>R&amp;d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  <a:sym typeface="DM Sans"/>
              </a:rPr>
              <a:t> Department And Who Didn't Got Promoted In Between 4 To 8 Years And Salaries Is Less Than 10k Their Attrition Rate Is More Than  68%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709DD11-D999-80BF-4AD7-EAA31C79FA38}"/>
              </a:ext>
            </a:extLst>
          </p:cNvPr>
          <p:cNvSpPr txBox="1"/>
          <p:nvPr/>
        </p:nvSpPr>
        <p:spPr>
          <a:xfrm>
            <a:off x="4240459" y="2324100"/>
            <a:ext cx="4328062" cy="2930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DM Sans Bold"/>
                <a:cs typeface="Arial" panose="020B0604020202020204" pitchFamily="34" charset="0"/>
                <a:sym typeface="DM Sans Bold"/>
              </a:rPr>
              <a:t>Single Male Vs Female Attrition Rate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ea typeface="DM Sans Bold"/>
              <a:cs typeface="Arial" panose="020B0604020202020204" pitchFamily="34" charset="0"/>
              <a:sym typeface="DM Sans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7D4F08-3CE1-8E24-7E05-D7FA6DE8C5C2}"/>
              </a:ext>
            </a:extLst>
          </p:cNvPr>
          <p:cNvSpPr txBox="1"/>
          <p:nvPr/>
        </p:nvSpPr>
        <p:spPr>
          <a:xfrm>
            <a:off x="4240458" y="2781300"/>
            <a:ext cx="13026183" cy="1104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  <a:sym typeface="DM Sans"/>
              </a:rPr>
              <a:t>For Single Males Who Are Doing Overtime Salary Between 21k To 30k And Who Didn't Got Promoted Between 2 To 4 Yrs  Their Attrition Rates Are Around 64% In Software Department(23% In Sales Department) And 37.84% Who Are Not Doing Over-time In Software Department.</a:t>
            </a:r>
          </a:p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  <a:sym typeface="DM Sans"/>
              </a:rPr>
              <a:t>For Single Females Who Are Doing Over Time Salary Is In Between 21k To 30k And Didn't Got Promoted In Between 2 To 4 Yrs Their Attrition Rate Is Around 68% </a:t>
            </a:r>
          </a:p>
        </p:txBody>
      </p:sp>
    </p:spTree>
    <p:extLst>
      <p:ext uri="{BB962C8B-B14F-4D97-AF65-F5344CB8AC3E}">
        <p14:creationId xmlns:p14="http://schemas.microsoft.com/office/powerpoint/2010/main" val="3956049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72091" y="3238824"/>
            <a:ext cx="5543817" cy="5523851"/>
          </a:xfrm>
          <a:custGeom>
            <a:avLst/>
            <a:gdLst/>
            <a:ahLst/>
            <a:cxnLst/>
            <a:rect l="l" t="t" r="r" b="b"/>
            <a:pathLst>
              <a:path w="5543817" h="5523851">
                <a:moveTo>
                  <a:pt x="0" y="0"/>
                </a:moveTo>
                <a:lnTo>
                  <a:pt x="5543818" y="0"/>
                </a:lnTo>
                <a:lnTo>
                  <a:pt x="5543818" y="5523852"/>
                </a:lnTo>
                <a:lnTo>
                  <a:pt x="0" y="5523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427531" y="3988976"/>
            <a:ext cx="1143000" cy="1154167"/>
            <a:chOff x="0" y="0"/>
            <a:chExt cx="804936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4936" cy="812800"/>
            </a:xfrm>
            <a:custGeom>
              <a:avLst/>
              <a:gdLst/>
              <a:ahLst/>
              <a:cxnLst/>
              <a:rect l="l" t="t" r="r" b="b"/>
              <a:pathLst>
                <a:path w="804936" h="812800">
                  <a:moveTo>
                    <a:pt x="402468" y="0"/>
                  </a:moveTo>
                  <a:cubicBezTo>
                    <a:pt x="180191" y="0"/>
                    <a:pt x="0" y="181951"/>
                    <a:pt x="0" y="406400"/>
                  </a:cubicBezTo>
                  <a:cubicBezTo>
                    <a:pt x="0" y="630849"/>
                    <a:pt x="180191" y="812800"/>
                    <a:pt x="402468" y="812800"/>
                  </a:cubicBezTo>
                  <a:cubicBezTo>
                    <a:pt x="624745" y="812800"/>
                    <a:pt x="804936" y="630849"/>
                    <a:pt x="804936" y="406400"/>
                  </a:cubicBezTo>
                  <a:cubicBezTo>
                    <a:pt x="804936" y="181951"/>
                    <a:pt x="624745" y="0"/>
                    <a:pt x="402468" y="0"/>
                  </a:cubicBezTo>
                  <a:close/>
                </a:path>
              </a:pathLst>
            </a:custGeom>
            <a:solidFill>
              <a:srgbClr val="56E11B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5463" y="19050"/>
              <a:ext cx="65401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19517" y="6762750"/>
            <a:ext cx="1143000" cy="11430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259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096250" y="5410200"/>
            <a:ext cx="1143000" cy="114300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38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772909" y="4249710"/>
            <a:ext cx="1143000" cy="114300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B80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-2700000">
            <a:off x="12053677" y="3228422"/>
            <a:ext cx="251931" cy="251931"/>
            <a:chOff x="0" y="0"/>
            <a:chExt cx="66352" cy="6635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352" cy="66352"/>
            </a:xfrm>
            <a:custGeom>
              <a:avLst/>
              <a:gdLst/>
              <a:ahLst/>
              <a:cxnLst/>
              <a:rect l="l" t="t" r="r" b="b"/>
              <a:pathLst>
                <a:path w="66352" h="66352">
                  <a:moveTo>
                    <a:pt x="33176" y="0"/>
                  </a:moveTo>
                  <a:lnTo>
                    <a:pt x="33176" y="0"/>
                  </a:lnTo>
                  <a:cubicBezTo>
                    <a:pt x="41975" y="0"/>
                    <a:pt x="50413" y="3495"/>
                    <a:pt x="56635" y="9717"/>
                  </a:cubicBezTo>
                  <a:cubicBezTo>
                    <a:pt x="62857" y="15939"/>
                    <a:pt x="66352" y="24377"/>
                    <a:pt x="66352" y="33176"/>
                  </a:cubicBezTo>
                  <a:lnTo>
                    <a:pt x="66352" y="33176"/>
                  </a:lnTo>
                  <a:cubicBezTo>
                    <a:pt x="66352" y="41975"/>
                    <a:pt x="62857" y="50413"/>
                    <a:pt x="56635" y="56635"/>
                  </a:cubicBezTo>
                  <a:cubicBezTo>
                    <a:pt x="50413" y="62857"/>
                    <a:pt x="41975" y="66352"/>
                    <a:pt x="33176" y="66352"/>
                  </a:cubicBezTo>
                  <a:lnTo>
                    <a:pt x="33176" y="66352"/>
                  </a:lnTo>
                  <a:cubicBezTo>
                    <a:pt x="24377" y="66352"/>
                    <a:pt x="15939" y="62857"/>
                    <a:pt x="9717" y="56635"/>
                  </a:cubicBezTo>
                  <a:cubicBezTo>
                    <a:pt x="3495" y="50413"/>
                    <a:pt x="0" y="41975"/>
                    <a:pt x="0" y="33176"/>
                  </a:cubicBezTo>
                  <a:lnTo>
                    <a:pt x="0" y="33176"/>
                  </a:lnTo>
                  <a:cubicBezTo>
                    <a:pt x="0" y="24377"/>
                    <a:pt x="3495" y="15939"/>
                    <a:pt x="9717" y="9717"/>
                  </a:cubicBezTo>
                  <a:cubicBezTo>
                    <a:pt x="15939" y="3495"/>
                    <a:pt x="24377" y="0"/>
                    <a:pt x="33176" y="0"/>
                  </a:cubicBezTo>
                  <a:close/>
                </a:path>
              </a:pathLst>
            </a:custGeom>
            <a:solidFill>
              <a:srgbClr val="007B8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66352" cy="123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-2700000">
            <a:off x="5439334" y="3228422"/>
            <a:ext cx="251931" cy="251931"/>
            <a:chOff x="0" y="0"/>
            <a:chExt cx="66352" cy="6635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6352" cy="66352"/>
            </a:xfrm>
            <a:custGeom>
              <a:avLst/>
              <a:gdLst/>
              <a:ahLst/>
              <a:cxnLst/>
              <a:rect l="l" t="t" r="r" b="b"/>
              <a:pathLst>
                <a:path w="66352" h="66352">
                  <a:moveTo>
                    <a:pt x="33176" y="0"/>
                  </a:moveTo>
                  <a:lnTo>
                    <a:pt x="33176" y="0"/>
                  </a:lnTo>
                  <a:cubicBezTo>
                    <a:pt x="41975" y="0"/>
                    <a:pt x="50413" y="3495"/>
                    <a:pt x="56635" y="9717"/>
                  </a:cubicBezTo>
                  <a:cubicBezTo>
                    <a:pt x="62857" y="15939"/>
                    <a:pt x="66352" y="24377"/>
                    <a:pt x="66352" y="33176"/>
                  </a:cubicBezTo>
                  <a:lnTo>
                    <a:pt x="66352" y="33176"/>
                  </a:lnTo>
                  <a:cubicBezTo>
                    <a:pt x="66352" y="41975"/>
                    <a:pt x="62857" y="50413"/>
                    <a:pt x="56635" y="56635"/>
                  </a:cubicBezTo>
                  <a:cubicBezTo>
                    <a:pt x="50413" y="62857"/>
                    <a:pt x="41975" y="66352"/>
                    <a:pt x="33176" y="66352"/>
                  </a:cubicBezTo>
                  <a:lnTo>
                    <a:pt x="33176" y="66352"/>
                  </a:lnTo>
                  <a:cubicBezTo>
                    <a:pt x="24377" y="66352"/>
                    <a:pt x="15939" y="62857"/>
                    <a:pt x="9717" y="56635"/>
                  </a:cubicBezTo>
                  <a:cubicBezTo>
                    <a:pt x="3495" y="50413"/>
                    <a:pt x="0" y="41975"/>
                    <a:pt x="0" y="33176"/>
                  </a:cubicBezTo>
                  <a:lnTo>
                    <a:pt x="0" y="33176"/>
                  </a:lnTo>
                  <a:cubicBezTo>
                    <a:pt x="0" y="24377"/>
                    <a:pt x="3495" y="15939"/>
                    <a:pt x="9717" y="9717"/>
                  </a:cubicBezTo>
                  <a:cubicBezTo>
                    <a:pt x="15939" y="3495"/>
                    <a:pt x="24377" y="0"/>
                    <a:pt x="33176" y="0"/>
                  </a:cubicBezTo>
                  <a:close/>
                </a:path>
              </a:pathLst>
            </a:custGeom>
            <a:solidFill>
              <a:srgbClr val="56E11B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66352" cy="123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 rot="-2700000">
            <a:off x="5481427" y="7426724"/>
            <a:ext cx="251931" cy="251931"/>
            <a:chOff x="0" y="0"/>
            <a:chExt cx="66352" cy="663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6352" cy="66352"/>
            </a:xfrm>
            <a:custGeom>
              <a:avLst/>
              <a:gdLst/>
              <a:ahLst/>
              <a:cxnLst/>
              <a:rect l="l" t="t" r="r" b="b"/>
              <a:pathLst>
                <a:path w="66352" h="66352">
                  <a:moveTo>
                    <a:pt x="33176" y="0"/>
                  </a:moveTo>
                  <a:lnTo>
                    <a:pt x="33176" y="0"/>
                  </a:lnTo>
                  <a:cubicBezTo>
                    <a:pt x="41975" y="0"/>
                    <a:pt x="50413" y="3495"/>
                    <a:pt x="56635" y="9717"/>
                  </a:cubicBezTo>
                  <a:cubicBezTo>
                    <a:pt x="62857" y="15939"/>
                    <a:pt x="66352" y="24377"/>
                    <a:pt x="66352" y="33176"/>
                  </a:cubicBezTo>
                  <a:lnTo>
                    <a:pt x="66352" y="33176"/>
                  </a:lnTo>
                  <a:cubicBezTo>
                    <a:pt x="66352" y="41975"/>
                    <a:pt x="62857" y="50413"/>
                    <a:pt x="56635" y="56635"/>
                  </a:cubicBezTo>
                  <a:cubicBezTo>
                    <a:pt x="50413" y="62857"/>
                    <a:pt x="41975" y="66352"/>
                    <a:pt x="33176" y="66352"/>
                  </a:cubicBezTo>
                  <a:lnTo>
                    <a:pt x="33176" y="66352"/>
                  </a:lnTo>
                  <a:cubicBezTo>
                    <a:pt x="24377" y="66352"/>
                    <a:pt x="15939" y="62857"/>
                    <a:pt x="9717" y="56635"/>
                  </a:cubicBezTo>
                  <a:cubicBezTo>
                    <a:pt x="3495" y="50413"/>
                    <a:pt x="0" y="41975"/>
                    <a:pt x="0" y="33176"/>
                  </a:cubicBezTo>
                  <a:lnTo>
                    <a:pt x="0" y="33176"/>
                  </a:lnTo>
                  <a:cubicBezTo>
                    <a:pt x="0" y="24377"/>
                    <a:pt x="3495" y="15939"/>
                    <a:pt x="9717" y="9717"/>
                  </a:cubicBezTo>
                  <a:cubicBezTo>
                    <a:pt x="15939" y="3495"/>
                    <a:pt x="24377" y="0"/>
                    <a:pt x="33176" y="0"/>
                  </a:cubicBezTo>
                  <a:close/>
                </a:path>
              </a:pathLst>
            </a:custGeom>
            <a:solidFill>
              <a:srgbClr val="000038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66352" cy="123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 rot="-2700000">
            <a:off x="12053677" y="8091264"/>
            <a:ext cx="251931" cy="251931"/>
            <a:chOff x="0" y="0"/>
            <a:chExt cx="66352" cy="6635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6352" cy="66352"/>
            </a:xfrm>
            <a:custGeom>
              <a:avLst/>
              <a:gdLst/>
              <a:ahLst/>
              <a:cxnLst/>
              <a:rect l="l" t="t" r="r" b="b"/>
              <a:pathLst>
                <a:path w="66352" h="66352">
                  <a:moveTo>
                    <a:pt x="33176" y="0"/>
                  </a:moveTo>
                  <a:lnTo>
                    <a:pt x="33176" y="0"/>
                  </a:lnTo>
                  <a:cubicBezTo>
                    <a:pt x="41975" y="0"/>
                    <a:pt x="50413" y="3495"/>
                    <a:pt x="56635" y="9717"/>
                  </a:cubicBezTo>
                  <a:cubicBezTo>
                    <a:pt x="62857" y="15939"/>
                    <a:pt x="66352" y="24377"/>
                    <a:pt x="66352" y="33176"/>
                  </a:cubicBezTo>
                  <a:lnTo>
                    <a:pt x="66352" y="33176"/>
                  </a:lnTo>
                  <a:cubicBezTo>
                    <a:pt x="66352" y="41975"/>
                    <a:pt x="62857" y="50413"/>
                    <a:pt x="56635" y="56635"/>
                  </a:cubicBezTo>
                  <a:cubicBezTo>
                    <a:pt x="50413" y="62857"/>
                    <a:pt x="41975" y="66352"/>
                    <a:pt x="33176" y="66352"/>
                  </a:cubicBezTo>
                  <a:lnTo>
                    <a:pt x="33176" y="66352"/>
                  </a:lnTo>
                  <a:cubicBezTo>
                    <a:pt x="24377" y="66352"/>
                    <a:pt x="15939" y="62857"/>
                    <a:pt x="9717" y="56635"/>
                  </a:cubicBezTo>
                  <a:cubicBezTo>
                    <a:pt x="3495" y="50413"/>
                    <a:pt x="0" y="41975"/>
                    <a:pt x="0" y="33176"/>
                  </a:cubicBezTo>
                  <a:lnTo>
                    <a:pt x="0" y="33176"/>
                  </a:lnTo>
                  <a:cubicBezTo>
                    <a:pt x="0" y="24377"/>
                    <a:pt x="3495" y="15939"/>
                    <a:pt x="9717" y="9717"/>
                  </a:cubicBezTo>
                  <a:cubicBezTo>
                    <a:pt x="15939" y="3495"/>
                    <a:pt x="24377" y="0"/>
                    <a:pt x="33176" y="0"/>
                  </a:cubicBezTo>
                  <a:close/>
                </a:path>
              </a:pathLst>
            </a:custGeom>
            <a:solidFill>
              <a:srgbClr val="004259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66352" cy="123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" name="Freeform 27"/>
          <p:cNvSpPr/>
          <p:nvPr/>
        </p:nvSpPr>
        <p:spPr>
          <a:xfrm>
            <a:off x="11344408" y="3354388"/>
            <a:ext cx="676818" cy="895322"/>
          </a:xfrm>
          <a:custGeom>
            <a:avLst/>
            <a:gdLst/>
            <a:ahLst/>
            <a:cxnLst/>
            <a:rect l="l" t="t" r="r" b="b"/>
            <a:pathLst>
              <a:path w="676818" h="895322">
                <a:moveTo>
                  <a:pt x="0" y="895322"/>
                </a:moveTo>
                <a:lnTo>
                  <a:pt x="0" y="671491"/>
                </a:lnTo>
                <a:cubicBezTo>
                  <a:pt x="0" y="612128"/>
                  <a:pt x="23583" y="555195"/>
                  <a:pt x="65559" y="513219"/>
                </a:cubicBezTo>
                <a:cubicBezTo>
                  <a:pt x="107536" y="471243"/>
                  <a:pt x="164468" y="447661"/>
                  <a:pt x="223831" y="447661"/>
                </a:cubicBezTo>
                <a:lnTo>
                  <a:pt x="452988" y="447661"/>
                </a:lnTo>
                <a:cubicBezTo>
                  <a:pt x="512352" y="447661"/>
                  <a:pt x="569284" y="424079"/>
                  <a:pt x="611260" y="382102"/>
                </a:cubicBezTo>
                <a:cubicBezTo>
                  <a:pt x="653236" y="340126"/>
                  <a:pt x="676819" y="283193"/>
                  <a:pt x="676819" y="223830"/>
                </a:cubicBezTo>
                <a:lnTo>
                  <a:pt x="676819" y="0"/>
                </a:lnTo>
              </a:path>
            </a:pathLst>
          </a:custGeom>
          <a:ln w="38100" cap="rnd">
            <a:solidFill>
              <a:srgbClr val="007B80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28" name="Freeform 28"/>
          <p:cNvSpPr/>
          <p:nvPr/>
        </p:nvSpPr>
        <p:spPr>
          <a:xfrm>
            <a:off x="9291017" y="7905750"/>
            <a:ext cx="2730209" cy="1425442"/>
          </a:xfrm>
          <a:custGeom>
            <a:avLst/>
            <a:gdLst/>
            <a:ahLst/>
            <a:cxnLst/>
            <a:rect l="l" t="t" r="r" b="b"/>
            <a:pathLst>
              <a:path w="2730209" h="1425442">
                <a:moveTo>
                  <a:pt x="0" y="0"/>
                </a:moveTo>
                <a:lnTo>
                  <a:pt x="0" y="1196842"/>
                </a:lnTo>
                <a:cubicBezTo>
                  <a:pt x="0" y="1257471"/>
                  <a:pt x="24085" y="1315617"/>
                  <a:pt x="66956" y="1358487"/>
                </a:cubicBezTo>
                <a:cubicBezTo>
                  <a:pt x="109826" y="1401358"/>
                  <a:pt x="167972" y="1425442"/>
                  <a:pt x="228600" y="1425442"/>
                </a:cubicBezTo>
                <a:lnTo>
                  <a:pt x="1998178" y="1425442"/>
                </a:lnTo>
                <a:cubicBezTo>
                  <a:pt x="2058806" y="1425442"/>
                  <a:pt x="2116952" y="1401358"/>
                  <a:pt x="2159822" y="1358487"/>
                </a:cubicBezTo>
                <a:cubicBezTo>
                  <a:pt x="2202693" y="1315617"/>
                  <a:pt x="2226778" y="1257471"/>
                  <a:pt x="2226778" y="1196842"/>
                </a:cubicBezTo>
                <a:lnTo>
                  <a:pt x="2226778" y="540079"/>
                </a:lnTo>
                <a:cubicBezTo>
                  <a:pt x="2226778" y="479451"/>
                  <a:pt x="2250862" y="421305"/>
                  <a:pt x="2293733" y="378435"/>
                </a:cubicBezTo>
                <a:cubicBezTo>
                  <a:pt x="2336603" y="335564"/>
                  <a:pt x="2394749" y="311479"/>
                  <a:pt x="2455378" y="311479"/>
                </a:cubicBezTo>
                <a:lnTo>
                  <a:pt x="2730210" y="311479"/>
                </a:lnTo>
              </a:path>
            </a:pathLst>
          </a:custGeom>
          <a:ln w="38100" cap="rnd">
            <a:solidFill>
              <a:srgbClr val="004259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29" name="Freeform 29"/>
          <p:cNvSpPr/>
          <p:nvPr/>
        </p:nvSpPr>
        <p:spPr>
          <a:xfrm>
            <a:off x="5723715" y="3354388"/>
            <a:ext cx="1275316" cy="634588"/>
          </a:xfrm>
          <a:custGeom>
            <a:avLst/>
            <a:gdLst/>
            <a:ahLst/>
            <a:cxnLst/>
            <a:rect l="l" t="t" r="r" b="b"/>
            <a:pathLst>
              <a:path w="1275316" h="634588">
                <a:moveTo>
                  <a:pt x="1275316" y="634588"/>
                </a:moveTo>
                <a:lnTo>
                  <a:pt x="866258" y="634588"/>
                </a:lnTo>
                <a:cubicBezTo>
                  <a:pt x="805629" y="634588"/>
                  <a:pt x="747484" y="610503"/>
                  <a:pt x="704613" y="567633"/>
                </a:cubicBezTo>
                <a:cubicBezTo>
                  <a:pt x="661743" y="524762"/>
                  <a:pt x="637658" y="466616"/>
                  <a:pt x="637658" y="405988"/>
                </a:cubicBezTo>
                <a:lnTo>
                  <a:pt x="637658" y="228600"/>
                </a:lnTo>
                <a:cubicBezTo>
                  <a:pt x="637658" y="167971"/>
                  <a:pt x="613573" y="109826"/>
                  <a:pt x="570703" y="66955"/>
                </a:cubicBezTo>
                <a:cubicBezTo>
                  <a:pt x="527832" y="24084"/>
                  <a:pt x="469686" y="0"/>
                  <a:pt x="409058" y="0"/>
                </a:cubicBezTo>
                <a:lnTo>
                  <a:pt x="0" y="0"/>
                </a:lnTo>
              </a:path>
            </a:pathLst>
          </a:custGeom>
          <a:ln w="38100" cap="rnd">
            <a:solidFill>
              <a:srgbClr val="56E11B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30" name="Freeform 30"/>
          <p:cNvSpPr/>
          <p:nvPr/>
        </p:nvSpPr>
        <p:spPr>
          <a:xfrm>
            <a:off x="5765807" y="5981700"/>
            <a:ext cx="2330443" cy="1570990"/>
          </a:xfrm>
          <a:custGeom>
            <a:avLst/>
            <a:gdLst/>
            <a:ahLst/>
            <a:cxnLst/>
            <a:rect l="l" t="t" r="r" b="b"/>
            <a:pathLst>
              <a:path w="2330443" h="1570990">
                <a:moveTo>
                  <a:pt x="2330443" y="0"/>
                </a:moveTo>
                <a:lnTo>
                  <a:pt x="526007" y="0"/>
                </a:lnTo>
                <a:cubicBezTo>
                  <a:pt x="399754" y="0"/>
                  <a:pt x="297407" y="102348"/>
                  <a:pt x="297407" y="228600"/>
                </a:cubicBezTo>
                <a:lnTo>
                  <a:pt x="297407" y="1422287"/>
                </a:lnTo>
                <a:cubicBezTo>
                  <a:pt x="297407" y="1461726"/>
                  <a:pt x="281740" y="1499549"/>
                  <a:pt x="253852" y="1527436"/>
                </a:cubicBezTo>
                <a:cubicBezTo>
                  <a:pt x="225965" y="1555323"/>
                  <a:pt x="188142" y="1570990"/>
                  <a:pt x="148704" y="1570990"/>
                </a:cubicBezTo>
                <a:lnTo>
                  <a:pt x="0" y="1570990"/>
                </a:lnTo>
              </a:path>
            </a:pathLst>
          </a:custGeom>
          <a:ln w="38100" cap="rnd">
            <a:solidFill>
              <a:srgbClr val="000038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31" name="Freeform 31"/>
          <p:cNvSpPr/>
          <p:nvPr/>
        </p:nvSpPr>
        <p:spPr>
          <a:xfrm>
            <a:off x="1879124" y="4670656"/>
            <a:ext cx="3526515" cy="329969"/>
          </a:xfrm>
          <a:custGeom>
            <a:avLst/>
            <a:gdLst/>
            <a:ahLst/>
            <a:cxnLst/>
            <a:rect l="l" t="t" r="r" b="b"/>
            <a:pathLst>
              <a:path w="3526515" h="329969">
                <a:moveTo>
                  <a:pt x="0" y="0"/>
                </a:moveTo>
                <a:lnTo>
                  <a:pt x="3526516" y="0"/>
                </a:lnTo>
                <a:lnTo>
                  <a:pt x="3526516" y="329969"/>
                </a:lnTo>
                <a:lnTo>
                  <a:pt x="0" y="3299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t="-179815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2355519" y="4670656"/>
            <a:ext cx="3526515" cy="329969"/>
          </a:xfrm>
          <a:custGeom>
            <a:avLst/>
            <a:gdLst/>
            <a:ahLst/>
            <a:cxnLst/>
            <a:rect l="l" t="t" r="r" b="b"/>
            <a:pathLst>
              <a:path w="3526515" h="329969">
                <a:moveTo>
                  <a:pt x="0" y="0"/>
                </a:moveTo>
                <a:lnTo>
                  <a:pt x="3526515" y="0"/>
                </a:lnTo>
                <a:lnTo>
                  <a:pt x="3526515" y="329969"/>
                </a:lnTo>
                <a:lnTo>
                  <a:pt x="0" y="3299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t="-179815"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2355519" y="9537931"/>
            <a:ext cx="3526515" cy="329969"/>
          </a:xfrm>
          <a:custGeom>
            <a:avLst/>
            <a:gdLst/>
            <a:ahLst/>
            <a:cxnLst/>
            <a:rect l="l" t="t" r="r" b="b"/>
            <a:pathLst>
              <a:path w="3526515" h="329969">
                <a:moveTo>
                  <a:pt x="0" y="0"/>
                </a:moveTo>
                <a:lnTo>
                  <a:pt x="3526515" y="0"/>
                </a:lnTo>
                <a:lnTo>
                  <a:pt x="3526515" y="329969"/>
                </a:lnTo>
                <a:lnTo>
                  <a:pt x="0" y="3299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t="-179815"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879124" y="8886763"/>
            <a:ext cx="3526515" cy="329969"/>
          </a:xfrm>
          <a:custGeom>
            <a:avLst/>
            <a:gdLst/>
            <a:ahLst/>
            <a:cxnLst/>
            <a:rect l="l" t="t" r="r" b="b"/>
            <a:pathLst>
              <a:path w="3526515" h="329969">
                <a:moveTo>
                  <a:pt x="0" y="0"/>
                </a:moveTo>
                <a:lnTo>
                  <a:pt x="3526516" y="0"/>
                </a:lnTo>
                <a:lnTo>
                  <a:pt x="3526516" y="329969"/>
                </a:lnTo>
                <a:lnTo>
                  <a:pt x="0" y="3299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t="-179815"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6737094" y="4251506"/>
            <a:ext cx="523875" cy="629108"/>
          </a:xfrm>
          <a:custGeom>
            <a:avLst/>
            <a:gdLst/>
            <a:ahLst/>
            <a:cxnLst/>
            <a:rect l="l" t="t" r="r" b="b"/>
            <a:pathLst>
              <a:path w="523875" h="629108">
                <a:moveTo>
                  <a:pt x="0" y="0"/>
                </a:moveTo>
                <a:lnTo>
                  <a:pt x="523875" y="0"/>
                </a:lnTo>
                <a:lnTo>
                  <a:pt x="523875" y="629107"/>
                </a:lnTo>
                <a:lnTo>
                  <a:pt x="0" y="6291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6" name="Freeform 36"/>
          <p:cNvSpPr/>
          <p:nvPr/>
        </p:nvSpPr>
        <p:spPr>
          <a:xfrm>
            <a:off x="11082471" y="4569913"/>
            <a:ext cx="523875" cy="502595"/>
          </a:xfrm>
          <a:custGeom>
            <a:avLst/>
            <a:gdLst/>
            <a:ahLst/>
            <a:cxnLst/>
            <a:rect l="l" t="t" r="r" b="b"/>
            <a:pathLst>
              <a:path w="523875" h="502595">
                <a:moveTo>
                  <a:pt x="0" y="0"/>
                </a:moveTo>
                <a:lnTo>
                  <a:pt x="523875" y="0"/>
                </a:lnTo>
                <a:lnTo>
                  <a:pt x="523875" y="502594"/>
                </a:lnTo>
                <a:lnTo>
                  <a:pt x="0" y="5025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7" name="Freeform 37"/>
          <p:cNvSpPr/>
          <p:nvPr/>
        </p:nvSpPr>
        <p:spPr>
          <a:xfrm>
            <a:off x="9029080" y="7111841"/>
            <a:ext cx="523875" cy="444817"/>
          </a:xfrm>
          <a:custGeom>
            <a:avLst/>
            <a:gdLst/>
            <a:ahLst/>
            <a:cxnLst/>
            <a:rect l="l" t="t" r="r" b="b"/>
            <a:pathLst>
              <a:path w="523875" h="444817">
                <a:moveTo>
                  <a:pt x="0" y="0"/>
                </a:moveTo>
                <a:lnTo>
                  <a:pt x="523875" y="0"/>
                </a:lnTo>
                <a:lnTo>
                  <a:pt x="523875" y="444818"/>
                </a:lnTo>
                <a:lnTo>
                  <a:pt x="0" y="4448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8" name="Freeform 38"/>
          <p:cNvSpPr/>
          <p:nvPr/>
        </p:nvSpPr>
        <p:spPr>
          <a:xfrm>
            <a:off x="8405813" y="5815012"/>
            <a:ext cx="523875" cy="371475"/>
          </a:xfrm>
          <a:custGeom>
            <a:avLst/>
            <a:gdLst/>
            <a:ahLst/>
            <a:cxnLst/>
            <a:rect l="l" t="t" r="r" b="b"/>
            <a:pathLst>
              <a:path w="523875" h="371475">
                <a:moveTo>
                  <a:pt x="0" y="0"/>
                </a:moveTo>
                <a:lnTo>
                  <a:pt x="523875" y="0"/>
                </a:lnTo>
                <a:lnTo>
                  <a:pt x="523875" y="371476"/>
                </a:lnTo>
                <a:lnTo>
                  <a:pt x="0" y="37147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9" name="TextBox 39"/>
          <p:cNvSpPr txBox="1"/>
          <p:nvPr/>
        </p:nvSpPr>
        <p:spPr>
          <a:xfrm>
            <a:off x="1879124" y="3181985"/>
            <a:ext cx="3333750" cy="29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Critical Attrition Risk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905000" y="7399337"/>
            <a:ext cx="3333750" cy="30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Tenure ≠ Retention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307624" y="3683740"/>
            <a:ext cx="3958665" cy="828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R&amp;D has the highest attrition (51.21%), the steepest of any department — a concern since R&amp;D staff are usually hard to replace</a:t>
            </a:r>
            <a:endParaRPr lang="en-US" sz="1599" dirty="0">
              <a:solidFill>
                <a:srgbClr val="000000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990600" y="7858442"/>
            <a:ext cx="4248150" cy="828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Average tenure is healthy (10–11 yrs), but high overall attrition (50.21%) persists despite this — long-tenured employees still leave</a:t>
            </a:r>
            <a:endParaRPr lang="en-US" sz="1599" dirty="0">
              <a:solidFill>
                <a:srgbClr val="000000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3714749" y="1099231"/>
            <a:ext cx="10858500" cy="677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4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Key Takeaways - Business Insights</a:t>
            </a:r>
            <a:endParaRPr lang="en-US" sz="4400" spc="862" dirty="0">
              <a:solidFill>
                <a:srgbClr val="00B050"/>
              </a:solidFill>
              <a:latin typeface="Arial" panose="020B0604020202020204" pitchFamily="34" charset="0"/>
              <a:ea typeface="Canva Sans" panose="020B0503030501040103"/>
              <a:cs typeface="Arial" panose="020B0604020202020204" pitchFamily="34" charset="0"/>
              <a:sym typeface="Canva Sans" panose="020B0503030501040103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2548284" y="3181985"/>
            <a:ext cx="4063316" cy="298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Compensation Isn't the Driver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2548284" y="8044827"/>
            <a:ext cx="5206316" cy="298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Work-Life Balance Is Uniform but Weak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2548283" y="3641090"/>
            <a:ext cx="4063316" cy="822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Attrition is nearly flat across income bands (49.98%–50.89%); higher pay doesn't reduce exits, even for &gt;40K earners</a:t>
            </a:r>
            <a:endParaRPr lang="en-US" sz="1599" dirty="0">
              <a:solidFill>
                <a:srgbClr val="000000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2548284" y="8503932"/>
            <a:ext cx="4901516" cy="822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WLB scores cluster tightly (2.46–2.52) across roles; Sales Executives and Manufacturing Directors score lowest, hinting at workload pressure</a:t>
            </a:r>
            <a:endParaRPr lang="en-US" sz="1599" dirty="0">
              <a:solidFill>
                <a:srgbClr val="000000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" y="2973900"/>
            <a:ext cx="7428379" cy="0"/>
          </a:xfrm>
          <a:prstGeom prst="line">
            <a:avLst/>
          </a:prstGeom>
          <a:ln w="47625" cap="flat">
            <a:solidFill>
              <a:srgbClr val="C7D2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2902660" y="2577272"/>
            <a:ext cx="3619500" cy="804300"/>
            <a:chOff x="0" y="0"/>
            <a:chExt cx="1828876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8876" cy="406400"/>
            </a:xfrm>
            <a:custGeom>
              <a:avLst/>
              <a:gdLst/>
              <a:ahLst/>
              <a:cxnLst/>
              <a:rect l="l" t="t" r="r" b="b"/>
              <a:pathLst>
                <a:path w="1828876" h="406400">
                  <a:moveTo>
                    <a:pt x="1625676" y="0"/>
                  </a:moveTo>
                  <a:cubicBezTo>
                    <a:pt x="1737900" y="0"/>
                    <a:pt x="1828876" y="90976"/>
                    <a:pt x="1828876" y="203200"/>
                  </a:cubicBezTo>
                  <a:cubicBezTo>
                    <a:pt x="1828876" y="315424"/>
                    <a:pt x="1737900" y="406400"/>
                    <a:pt x="16256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6E11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828876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 b="1">
                  <a:solidFill>
                    <a:srgbClr val="000000"/>
                  </a:solidFill>
                  <a:latin typeface="Arial" panose="020B0604020202020204" pitchFamily="34" charset="0"/>
                  <a:ea typeface="Proxima Nova Bold"/>
                  <a:cs typeface="Arial" panose="020B0604020202020204" pitchFamily="34" charset="0"/>
                  <a:sym typeface="Proxima Nova Bold"/>
                </a:rPr>
                <a:t>Traditional</a:t>
              </a:r>
            </a:p>
          </p:txBody>
        </p:sp>
      </p:grpSp>
      <p:sp>
        <p:nvSpPr>
          <p:cNvPr id="6" name="AutoShape 6"/>
          <p:cNvSpPr/>
          <p:nvPr/>
        </p:nvSpPr>
        <p:spPr>
          <a:xfrm flipH="1" flipV="1">
            <a:off x="9907121" y="2973900"/>
            <a:ext cx="7428379" cy="5522"/>
          </a:xfrm>
          <a:prstGeom prst="line">
            <a:avLst/>
          </a:prstGeom>
          <a:ln w="47625" cap="flat">
            <a:solidFill>
              <a:srgbClr val="C7D2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1765840" y="2577272"/>
            <a:ext cx="3619500" cy="804300"/>
            <a:chOff x="0" y="0"/>
            <a:chExt cx="1828876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28876" cy="406400"/>
            </a:xfrm>
            <a:custGeom>
              <a:avLst/>
              <a:gdLst/>
              <a:ahLst/>
              <a:cxnLst/>
              <a:rect l="l" t="t" r="r" b="b"/>
              <a:pathLst>
                <a:path w="1828876" h="406400">
                  <a:moveTo>
                    <a:pt x="1625676" y="0"/>
                  </a:moveTo>
                  <a:cubicBezTo>
                    <a:pt x="1737900" y="0"/>
                    <a:pt x="1828876" y="90976"/>
                    <a:pt x="1828876" y="203200"/>
                  </a:cubicBezTo>
                  <a:cubicBezTo>
                    <a:pt x="1828876" y="315424"/>
                    <a:pt x="1737900" y="406400"/>
                    <a:pt x="16256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38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828876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 b="1">
                  <a:solidFill>
                    <a:srgbClr val="FFFFFF"/>
                  </a:solidFill>
                  <a:latin typeface="Arial" panose="020B0604020202020204" pitchFamily="34" charset="0"/>
                  <a:ea typeface="Proxima Nova Bold"/>
                  <a:cs typeface="Arial" panose="020B0604020202020204" pitchFamily="34" charset="0"/>
                  <a:sym typeface="Proxima Nova Bold"/>
                </a:rPr>
                <a:t>Modern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2500" y="3744735"/>
            <a:ext cx="182880" cy="5437365"/>
            <a:chOff x="0" y="0"/>
            <a:chExt cx="48166" cy="14320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166" cy="1432063"/>
            </a:xfrm>
            <a:custGeom>
              <a:avLst/>
              <a:gdLst/>
              <a:ahLst/>
              <a:cxnLst/>
              <a:rect l="l" t="t" r="r" b="b"/>
              <a:pathLst>
                <a:path w="48166" h="1432063">
                  <a:moveTo>
                    <a:pt x="24083" y="0"/>
                  </a:moveTo>
                  <a:lnTo>
                    <a:pt x="24083" y="0"/>
                  </a:lnTo>
                  <a:cubicBezTo>
                    <a:pt x="30470" y="0"/>
                    <a:pt x="36596" y="2537"/>
                    <a:pt x="41112" y="7054"/>
                  </a:cubicBezTo>
                  <a:cubicBezTo>
                    <a:pt x="45629" y="11570"/>
                    <a:pt x="48166" y="17696"/>
                    <a:pt x="48166" y="24083"/>
                  </a:cubicBezTo>
                  <a:lnTo>
                    <a:pt x="48166" y="1407980"/>
                  </a:lnTo>
                  <a:cubicBezTo>
                    <a:pt x="48166" y="1414368"/>
                    <a:pt x="45629" y="1420493"/>
                    <a:pt x="41112" y="1425010"/>
                  </a:cubicBezTo>
                  <a:cubicBezTo>
                    <a:pt x="36596" y="1429526"/>
                    <a:pt x="30470" y="1432063"/>
                    <a:pt x="24083" y="1432063"/>
                  </a:cubicBezTo>
                  <a:lnTo>
                    <a:pt x="24083" y="1432063"/>
                  </a:lnTo>
                  <a:cubicBezTo>
                    <a:pt x="17696" y="1432063"/>
                    <a:pt x="11570" y="1429526"/>
                    <a:pt x="7054" y="1425010"/>
                  </a:cubicBezTo>
                  <a:cubicBezTo>
                    <a:pt x="2537" y="1420493"/>
                    <a:pt x="0" y="1414368"/>
                    <a:pt x="0" y="1407980"/>
                  </a:cubicBezTo>
                  <a:lnTo>
                    <a:pt x="0" y="24083"/>
                  </a:lnTo>
                  <a:cubicBezTo>
                    <a:pt x="0" y="17696"/>
                    <a:pt x="2537" y="11570"/>
                    <a:pt x="7054" y="7054"/>
                  </a:cubicBezTo>
                  <a:cubicBezTo>
                    <a:pt x="11570" y="2537"/>
                    <a:pt x="17696" y="0"/>
                    <a:pt x="24083" y="0"/>
                  </a:cubicBezTo>
                  <a:close/>
                </a:path>
              </a:pathLst>
            </a:custGeom>
            <a:solidFill>
              <a:srgbClr val="56E11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48166" cy="1489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152620" y="3744735"/>
            <a:ext cx="182880" cy="5437365"/>
            <a:chOff x="0" y="0"/>
            <a:chExt cx="48166" cy="14320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166" cy="1432063"/>
            </a:xfrm>
            <a:custGeom>
              <a:avLst/>
              <a:gdLst/>
              <a:ahLst/>
              <a:cxnLst/>
              <a:rect l="l" t="t" r="r" b="b"/>
              <a:pathLst>
                <a:path w="48166" h="1432063">
                  <a:moveTo>
                    <a:pt x="24083" y="0"/>
                  </a:moveTo>
                  <a:lnTo>
                    <a:pt x="24083" y="0"/>
                  </a:lnTo>
                  <a:cubicBezTo>
                    <a:pt x="30470" y="0"/>
                    <a:pt x="36596" y="2537"/>
                    <a:pt x="41112" y="7054"/>
                  </a:cubicBezTo>
                  <a:cubicBezTo>
                    <a:pt x="45629" y="11570"/>
                    <a:pt x="48166" y="17696"/>
                    <a:pt x="48166" y="24083"/>
                  </a:cubicBezTo>
                  <a:lnTo>
                    <a:pt x="48166" y="1407980"/>
                  </a:lnTo>
                  <a:cubicBezTo>
                    <a:pt x="48166" y="1414368"/>
                    <a:pt x="45629" y="1420493"/>
                    <a:pt x="41112" y="1425010"/>
                  </a:cubicBezTo>
                  <a:cubicBezTo>
                    <a:pt x="36596" y="1429526"/>
                    <a:pt x="30470" y="1432063"/>
                    <a:pt x="24083" y="1432063"/>
                  </a:cubicBezTo>
                  <a:lnTo>
                    <a:pt x="24083" y="1432063"/>
                  </a:lnTo>
                  <a:cubicBezTo>
                    <a:pt x="17696" y="1432063"/>
                    <a:pt x="11570" y="1429526"/>
                    <a:pt x="7054" y="1425010"/>
                  </a:cubicBezTo>
                  <a:cubicBezTo>
                    <a:pt x="2537" y="1420493"/>
                    <a:pt x="0" y="1414368"/>
                    <a:pt x="0" y="1407980"/>
                  </a:cubicBezTo>
                  <a:lnTo>
                    <a:pt x="0" y="24083"/>
                  </a:lnTo>
                  <a:cubicBezTo>
                    <a:pt x="0" y="17696"/>
                    <a:pt x="2537" y="11570"/>
                    <a:pt x="7054" y="7054"/>
                  </a:cubicBezTo>
                  <a:cubicBezTo>
                    <a:pt x="11570" y="2537"/>
                    <a:pt x="17696" y="0"/>
                    <a:pt x="24083" y="0"/>
                  </a:cubicBezTo>
                  <a:close/>
                </a:path>
              </a:pathLst>
            </a:custGeom>
            <a:solidFill>
              <a:srgbClr val="000038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48166" cy="1489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3940" y="3592335"/>
            <a:ext cx="7749536" cy="5742165"/>
            <a:chOff x="0" y="0"/>
            <a:chExt cx="1932363" cy="15123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32363" cy="1512340"/>
            </a:xfrm>
            <a:custGeom>
              <a:avLst/>
              <a:gdLst/>
              <a:ahLst/>
              <a:cxnLst/>
              <a:rect l="l" t="t" r="r" b="b"/>
              <a:pathLst>
                <a:path w="1932363" h="1512340">
                  <a:moveTo>
                    <a:pt x="21104" y="0"/>
                  </a:moveTo>
                  <a:lnTo>
                    <a:pt x="1911259" y="0"/>
                  </a:lnTo>
                  <a:cubicBezTo>
                    <a:pt x="1916856" y="0"/>
                    <a:pt x="1922224" y="2223"/>
                    <a:pt x="1926181" y="6181"/>
                  </a:cubicBezTo>
                  <a:cubicBezTo>
                    <a:pt x="1930139" y="10139"/>
                    <a:pt x="1932363" y="15507"/>
                    <a:pt x="1932363" y="21104"/>
                  </a:cubicBezTo>
                  <a:lnTo>
                    <a:pt x="1932363" y="1491236"/>
                  </a:lnTo>
                  <a:cubicBezTo>
                    <a:pt x="1932363" y="1502891"/>
                    <a:pt x="1922914" y="1512340"/>
                    <a:pt x="1911259" y="1512340"/>
                  </a:cubicBezTo>
                  <a:lnTo>
                    <a:pt x="21104" y="1512340"/>
                  </a:lnTo>
                  <a:cubicBezTo>
                    <a:pt x="9449" y="1512340"/>
                    <a:pt x="0" y="1502891"/>
                    <a:pt x="0" y="1491236"/>
                  </a:cubicBezTo>
                  <a:lnTo>
                    <a:pt x="0" y="21104"/>
                  </a:lnTo>
                  <a:cubicBezTo>
                    <a:pt x="0" y="9449"/>
                    <a:pt x="9449" y="0"/>
                    <a:pt x="211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932363" cy="15504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59291" y="3592335"/>
            <a:ext cx="7684769" cy="5742165"/>
            <a:chOff x="0" y="0"/>
            <a:chExt cx="1932363" cy="15123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32363" cy="1512340"/>
            </a:xfrm>
            <a:custGeom>
              <a:avLst/>
              <a:gdLst/>
              <a:ahLst/>
              <a:cxnLst/>
              <a:rect l="l" t="t" r="r" b="b"/>
              <a:pathLst>
                <a:path w="1932363" h="1512340">
                  <a:moveTo>
                    <a:pt x="21104" y="0"/>
                  </a:moveTo>
                  <a:lnTo>
                    <a:pt x="1911259" y="0"/>
                  </a:lnTo>
                  <a:cubicBezTo>
                    <a:pt x="1916856" y="0"/>
                    <a:pt x="1922224" y="2223"/>
                    <a:pt x="1926181" y="6181"/>
                  </a:cubicBezTo>
                  <a:cubicBezTo>
                    <a:pt x="1930139" y="10139"/>
                    <a:pt x="1932363" y="15507"/>
                    <a:pt x="1932363" y="21104"/>
                  </a:cubicBezTo>
                  <a:lnTo>
                    <a:pt x="1932363" y="1491236"/>
                  </a:lnTo>
                  <a:cubicBezTo>
                    <a:pt x="1932363" y="1502891"/>
                    <a:pt x="1922914" y="1512340"/>
                    <a:pt x="1911259" y="1512340"/>
                  </a:cubicBezTo>
                  <a:lnTo>
                    <a:pt x="21104" y="1512340"/>
                  </a:lnTo>
                  <a:cubicBezTo>
                    <a:pt x="9449" y="1512340"/>
                    <a:pt x="0" y="1502891"/>
                    <a:pt x="0" y="1491236"/>
                  </a:cubicBezTo>
                  <a:lnTo>
                    <a:pt x="0" y="21104"/>
                  </a:lnTo>
                  <a:cubicBezTo>
                    <a:pt x="0" y="9449"/>
                    <a:pt x="9449" y="0"/>
                    <a:pt x="211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932363" cy="15504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AutoShape 22"/>
          <p:cNvSpPr/>
          <p:nvPr/>
        </p:nvSpPr>
        <p:spPr>
          <a:xfrm>
            <a:off x="1485900" y="5158115"/>
            <a:ext cx="5712320" cy="0"/>
          </a:xfrm>
          <a:prstGeom prst="line">
            <a:avLst/>
          </a:prstGeom>
          <a:ln w="19050" cap="flat">
            <a:solidFill>
              <a:srgbClr val="C7D2D9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3" name="AutoShape 23"/>
          <p:cNvSpPr/>
          <p:nvPr/>
        </p:nvSpPr>
        <p:spPr>
          <a:xfrm>
            <a:off x="9753600" y="5135602"/>
            <a:ext cx="7048500" cy="22513"/>
          </a:xfrm>
          <a:prstGeom prst="line">
            <a:avLst/>
          </a:prstGeom>
          <a:ln w="19050" cap="flat">
            <a:solidFill>
              <a:srgbClr val="C7D2D9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4" name="AutoShape 24"/>
          <p:cNvSpPr/>
          <p:nvPr/>
        </p:nvSpPr>
        <p:spPr>
          <a:xfrm>
            <a:off x="1485900" y="6463417"/>
            <a:ext cx="5712320" cy="0"/>
          </a:xfrm>
          <a:prstGeom prst="line">
            <a:avLst/>
          </a:prstGeom>
          <a:ln w="19050" cap="flat">
            <a:solidFill>
              <a:srgbClr val="C7D2D9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5" name="AutoShape 25"/>
          <p:cNvSpPr/>
          <p:nvPr/>
        </p:nvSpPr>
        <p:spPr>
          <a:xfrm>
            <a:off x="9753600" y="6463417"/>
            <a:ext cx="7048500" cy="0"/>
          </a:xfrm>
          <a:prstGeom prst="line">
            <a:avLst/>
          </a:prstGeom>
          <a:ln w="19050" cap="flat">
            <a:solidFill>
              <a:srgbClr val="C7D2D9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6" name="AutoShape 26"/>
          <p:cNvSpPr/>
          <p:nvPr/>
        </p:nvSpPr>
        <p:spPr>
          <a:xfrm>
            <a:off x="1485900" y="7768719"/>
            <a:ext cx="5712320" cy="0"/>
          </a:xfrm>
          <a:prstGeom prst="line">
            <a:avLst/>
          </a:prstGeom>
          <a:ln w="19050" cap="flat">
            <a:solidFill>
              <a:srgbClr val="C7D2D9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7" name="AutoShape 27"/>
          <p:cNvSpPr/>
          <p:nvPr/>
        </p:nvSpPr>
        <p:spPr>
          <a:xfrm>
            <a:off x="9753600" y="7768719"/>
            <a:ext cx="7048500" cy="0"/>
          </a:xfrm>
          <a:prstGeom prst="line">
            <a:avLst/>
          </a:prstGeom>
          <a:ln w="19050" cap="flat">
            <a:solidFill>
              <a:srgbClr val="C7D2D9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8" name="AutoShape 28"/>
          <p:cNvSpPr/>
          <p:nvPr/>
        </p:nvSpPr>
        <p:spPr>
          <a:xfrm>
            <a:off x="9144000" y="4034295"/>
            <a:ext cx="0" cy="4858245"/>
          </a:xfrm>
          <a:prstGeom prst="line">
            <a:avLst/>
          </a:prstGeom>
          <a:ln w="47625" cap="flat">
            <a:solidFill>
              <a:srgbClr val="C7D2D9"/>
            </a:solidFill>
            <a:prstDash val="solid"/>
            <a:headEnd type="triangle" w="lg" len="med"/>
            <a:tailEnd type="triangle" w="lg" len="med"/>
          </a:ln>
        </p:spPr>
      </p:sp>
      <p:sp>
        <p:nvSpPr>
          <p:cNvPr id="29" name="Freeform 29"/>
          <p:cNvSpPr/>
          <p:nvPr/>
        </p:nvSpPr>
        <p:spPr>
          <a:xfrm>
            <a:off x="1485900" y="4195902"/>
            <a:ext cx="619125" cy="619125"/>
          </a:xfrm>
          <a:custGeom>
            <a:avLst/>
            <a:gdLst/>
            <a:ahLst/>
            <a:cxnLst/>
            <a:rect l="l" t="t" r="r" b="b"/>
            <a:pathLst>
              <a:path w="619125" h="619125">
                <a:moveTo>
                  <a:pt x="0" y="0"/>
                </a:moveTo>
                <a:lnTo>
                  <a:pt x="619125" y="0"/>
                </a:lnTo>
                <a:lnTo>
                  <a:pt x="6191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85900" y="5491929"/>
            <a:ext cx="619125" cy="637676"/>
          </a:xfrm>
          <a:custGeom>
            <a:avLst/>
            <a:gdLst/>
            <a:ahLst/>
            <a:cxnLst/>
            <a:rect l="l" t="t" r="r" b="b"/>
            <a:pathLst>
              <a:path w="619125" h="637676">
                <a:moveTo>
                  <a:pt x="0" y="0"/>
                </a:moveTo>
                <a:lnTo>
                  <a:pt x="619125" y="0"/>
                </a:lnTo>
                <a:lnTo>
                  <a:pt x="619125" y="637675"/>
                </a:lnTo>
                <a:lnTo>
                  <a:pt x="0" y="6376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485900" y="6806506"/>
            <a:ext cx="619125" cy="619125"/>
          </a:xfrm>
          <a:custGeom>
            <a:avLst/>
            <a:gdLst/>
            <a:ahLst/>
            <a:cxnLst/>
            <a:rect l="l" t="t" r="r" b="b"/>
            <a:pathLst>
              <a:path w="619125" h="619125">
                <a:moveTo>
                  <a:pt x="0" y="0"/>
                </a:moveTo>
                <a:lnTo>
                  <a:pt x="619125" y="0"/>
                </a:lnTo>
                <a:lnTo>
                  <a:pt x="6191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485900" y="8128693"/>
            <a:ext cx="619125" cy="585355"/>
          </a:xfrm>
          <a:custGeom>
            <a:avLst/>
            <a:gdLst/>
            <a:ahLst/>
            <a:cxnLst/>
            <a:rect l="l" t="t" r="r" b="b"/>
            <a:pathLst>
              <a:path w="619125" h="585355">
                <a:moveTo>
                  <a:pt x="0" y="0"/>
                </a:moveTo>
                <a:lnTo>
                  <a:pt x="619125" y="0"/>
                </a:lnTo>
                <a:lnTo>
                  <a:pt x="619125" y="585354"/>
                </a:lnTo>
                <a:lnTo>
                  <a:pt x="0" y="5853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6182975" y="4328170"/>
            <a:ext cx="619125" cy="354590"/>
          </a:xfrm>
          <a:custGeom>
            <a:avLst/>
            <a:gdLst/>
            <a:ahLst/>
            <a:cxnLst/>
            <a:rect l="l" t="t" r="r" b="b"/>
            <a:pathLst>
              <a:path w="619125" h="354590">
                <a:moveTo>
                  <a:pt x="0" y="0"/>
                </a:moveTo>
                <a:lnTo>
                  <a:pt x="619125" y="0"/>
                </a:lnTo>
                <a:lnTo>
                  <a:pt x="619125" y="354589"/>
                </a:lnTo>
                <a:lnTo>
                  <a:pt x="0" y="3545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6182975" y="5610958"/>
            <a:ext cx="619125" cy="399617"/>
          </a:xfrm>
          <a:custGeom>
            <a:avLst/>
            <a:gdLst/>
            <a:ahLst/>
            <a:cxnLst/>
            <a:rect l="l" t="t" r="r" b="b"/>
            <a:pathLst>
              <a:path w="619125" h="399617">
                <a:moveTo>
                  <a:pt x="0" y="0"/>
                </a:moveTo>
                <a:lnTo>
                  <a:pt x="619125" y="0"/>
                </a:lnTo>
                <a:lnTo>
                  <a:pt x="619125" y="399617"/>
                </a:lnTo>
                <a:lnTo>
                  <a:pt x="0" y="3996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182975" y="6806506"/>
            <a:ext cx="619125" cy="619125"/>
          </a:xfrm>
          <a:custGeom>
            <a:avLst/>
            <a:gdLst/>
            <a:ahLst/>
            <a:cxnLst/>
            <a:rect l="l" t="t" r="r" b="b"/>
            <a:pathLst>
              <a:path w="619125" h="619125">
                <a:moveTo>
                  <a:pt x="0" y="0"/>
                </a:moveTo>
                <a:lnTo>
                  <a:pt x="619125" y="0"/>
                </a:lnTo>
                <a:lnTo>
                  <a:pt x="6191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6247745" y="8112572"/>
            <a:ext cx="489585" cy="617596"/>
          </a:xfrm>
          <a:custGeom>
            <a:avLst/>
            <a:gdLst/>
            <a:ahLst/>
            <a:cxnLst/>
            <a:rect l="l" t="t" r="r" b="b"/>
            <a:pathLst>
              <a:path w="489585" h="617596">
                <a:moveTo>
                  <a:pt x="0" y="0"/>
                </a:moveTo>
                <a:lnTo>
                  <a:pt x="489585" y="0"/>
                </a:lnTo>
                <a:lnTo>
                  <a:pt x="489585" y="617596"/>
                </a:lnTo>
                <a:lnTo>
                  <a:pt x="0" y="61759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3810000" y="1498191"/>
            <a:ext cx="1085850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Future Recommendations</a:t>
            </a:r>
            <a:endParaRPr lang="en-US" sz="4000" spc="862" dirty="0">
              <a:solidFill>
                <a:srgbClr val="00B050"/>
              </a:solidFill>
              <a:latin typeface="Arial" panose="020B0604020202020204" pitchFamily="34" charset="0"/>
              <a:ea typeface="Canva Sans" panose="020B0503030501040103"/>
              <a:cs typeface="Arial" panose="020B0604020202020204" pitchFamily="34" charset="0"/>
              <a:sym typeface="Canva Sans" panose="020B0503030501040103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630973" y="4322407"/>
            <a:ext cx="5293827" cy="619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R&amp;D attrition untracked beyond rate (51.21%)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2629257" y="5600700"/>
            <a:ext cx="4762500" cy="613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Attrition analysed only against demographics/pay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455289" y="4152900"/>
            <a:ext cx="6206491" cy="9400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Conduct exit interviews specifically in R&amp;D to identify root causes (workload, career growth, management)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9559291" y="5600700"/>
            <a:ext cx="6102489" cy="619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Build a predictive attrition model using job-role, engagement, and performance data instead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2629257" y="8275320"/>
            <a:ext cx="5219342" cy="619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Static dashboards (Excel/Tableau/Power BI) report past attrition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9529941" y="8191500"/>
            <a:ext cx="6167259" cy="619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Move to a live monitoring dashboard with attrition alerts by department, flagging spikes early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2629257" y="6972300"/>
            <a:ext cx="4762500" cy="613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Work-life balance measured but not acted on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9907121" y="6667500"/>
            <a:ext cx="5754659" cy="934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Launch targeted WLB initiatives for lowest-scoring roles (Sales Executives, Manufacturing Directors)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Proxima Nova Bold"/>
              <a:cs typeface="Arial" panose="020B0604020202020204" pitchFamily="34" charset="0"/>
              <a:sym typeface="Proxima Nova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7D377-8B86-A868-18C1-4F0B54A63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608CB649-620C-D1D6-4FCA-B165FAD02AC7}"/>
              </a:ext>
            </a:extLst>
          </p:cNvPr>
          <p:cNvSpPr/>
          <p:nvPr/>
        </p:nvSpPr>
        <p:spPr>
          <a:xfrm>
            <a:off x="12725400" y="4260150"/>
            <a:ext cx="838200" cy="689327"/>
          </a:xfrm>
          <a:custGeom>
            <a:avLst/>
            <a:gdLst/>
            <a:ahLst/>
            <a:cxnLst/>
            <a:rect l="l" t="t" r="r" b="b"/>
            <a:pathLst>
              <a:path w="1276987" h="1276987">
                <a:moveTo>
                  <a:pt x="0" y="0"/>
                </a:moveTo>
                <a:lnTo>
                  <a:pt x="1276987" y="0"/>
                </a:lnTo>
                <a:lnTo>
                  <a:pt x="1276987" y="1276987"/>
                </a:lnTo>
                <a:lnTo>
                  <a:pt x="0" y="1276987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62709AE2-94B3-D016-543A-803BFE2DB67D}"/>
              </a:ext>
            </a:extLst>
          </p:cNvPr>
          <p:cNvSpPr/>
          <p:nvPr/>
        </p:nvSpPr>
        <p:spPr>
          <a:xfrm rot="7682761">
            <a:off x="-1383321" y="-185949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13">
            <a:extLst>
              <a:ext uri="{FF2B5EF4-FFF2-40B4-BE49-F238E27FC236}">
                <a16:creationId xmlns:a16="http://schemas.microsoft.com/office/drawing/2014/main" id="{BE26CF14-98A9-E9AC-308C-C3CC5D4006B6}"/>
              </a:ext>
            </a:extLst>
          </p:cNvPr>
          <p:cNvSpPr/>
          <p:nvPr/>
        </p:nvSpPr>
        <p:spPr>
          <a:xfrm rot="7682761">
            <a:off x="14146738" y="8589103"/>
            <a:ext cx="631420" cy="631420"/>
          </a:xfrm>
          <a:custGeom>
            <a:avLst/>
            <a:gdLst/>
            <a:ahLst/>
            <a:cxnLst/>
            <a:rect l="l" t="t" r="r" b="b"/>
            <a:pathLst>
              <a:path w="631420" h="631420">
                <a:moveTo>
                  <a:pt x="0" y="0"/>
                </a:moveTo>
                <a:lnTo>
                  <a:pt x="631420" y="0"/>
                </a:lnTo>
                <a:lnTo>
                  <a:pt x="631420" y="631420"/>
                </a:lnTo>
                <a:lnTo>
                  <a:pt x="0" y="631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EAEA40E4-058E-B69F-61F0-13CA4806139D}"/>
              </a:ext>
            </a:extLst>
          </p:cNvPr>
          <p:cNvSpPr txBox="1"/>
          <p:nvPr/>
        </p:nvSpPr>
        <p:spPr>
          <a:xfrm>
            <a:off x="4343738" y="4000500"/>
            <a:ext cx="10972404" cy="18979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845"/>
              </a:lnSpc>
            </a:pPr>
            <a:r>
              <a:rPr lang="en-US" sz="12370" b="1" spc="841" dirty="0">
                <a:solidFill>
                  <a:srgbClr val="000000"/>
                </a:solidFill>
                <a:latin typeface="Arial" panose="020B0604020202020204" pitchFamily="34" charset="0"/>
                <a:ea typeface="Codec Pro" panose="00000500000000000000"/>
                <a:cs typeface="Arial" panose="020B0604020202020204" pitchFamily="34" charset="0"/>
                <a:sym typeface="Codec Pro" panose="00000500000000000000"/>
              </a:rPr>
              <a:t>Thank You</a:t>
            </a: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3869EC10-3B0B-08BD-AC80-F62B83C3E1CE}"/>
              </a:ext>
            </a:extLst>
          </p:cNvPr>
          <p:cNvSpPr/>
          <p:nvPr/>
        </p:nvSpPr>
        <p:spPr>
          <a:xfrm rot="19142761">
            <a:off x="16161094" y="720766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</p:spPr>
      </p:sp>
    </p:spTree>
    <p:extLst>
      <p:ext uri="{BB962C8B-B14F-4D97-AF65-F5344CB8AC3E}">
        <p14:creationId xmlns:p14="http://schemas.microsoft.com/office/powerpoint/2010/main" val="3017593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</TotalTime>
  <Words>1279</Words>
  <Application>Microsoft Office PowerPoint</Application>
  <PresentationFormat>Custom</PresentationFormat>
  <Paragraphs>120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Arial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Blue and Navy Modern Customer Journey Presentation</dc:title>
  <dc:creator>Rohit</dc:creator>
  <cp:lastModifiedBy>Rohit Malik</cp:lastModifiedBy>
  <cp:revision>174</cp:revision>
  <dcterms:created xsi:type="dcterms:W3CDTF">2006-08-16T00:00:00Z</dcterms:created>
  <dcterms:modified xsi:type="dcterms:W3CDTF">2026-07-09T13:06:53Z</dcterms:modified>
  <dc:identifier>DAHNvm_M3_I</dc:identifier>
</cp:coreProperties>
</file>